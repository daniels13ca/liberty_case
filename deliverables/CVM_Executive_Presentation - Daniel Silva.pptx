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256" r:id="rId3"/>
    <p:sldId id="266" r:id="rId4"/>
    <p:sldId id="267" r:id="rId5"/>
    <p:sldId id="268" r:id="rId6"/>
    <p:sldId id="269" r:id="rId7"/>
    <p:sldId id="271" r:id="rId8"/>
    <p:sldId id="272" r:id="rId9"/>
    <p:sldId id="270" r:id="rId10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7" userDrawn="1">
          <p15:clr>
            <a:srgbClr val="A4A3A4"/>
          </p15:clr>
        </p15:guide>
        <p15:guide id="2" pos="824" userDrawn="1">
          <p15:clr>
            <a:srgbClr val="A4A3A4"/>
          </p15:clr>
        </p15:guide>
        <p15:guide id="3" orient="horz" pos="323" userDrawn="1">
          <p15:clr>
            <a:srgbClr val="A4A3A4"/>
          </p15:clr>
        </p15:guide>
        <p15:guide id="4" pos="32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099" autoAdjust="0"/>
  </p:normalViewPr>
  <p:slideViewPr>
    <p:cSldViewPr snapToGrid="0" showGuides="1">
      <p:cViewPr varScale="1">
        <p:scale>
          <a:sx n="99" d="100"/>
          <a:sy n="99" d="100"/>
        </p:scale>
        <p:origin x="948" y="90"/>
      </p:cViewPr>
      <p:guideLst>
        <p:guide orient="horz" pos="187"/>
        <p:guide pos="824"/>
        <p:guide orient="horz" pos="323"/>
        <p:guide pos="32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 rate</c:v>
                </c:pt>
              </c:strCache>
            </c:strRef>
          </c:tx>
          <c:spPr>
            <a:solidFill>
              <a:srgbClr val="A7A9AC">
                <a:alpha val="100000"/>
              </a:srgbClr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A7A9A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82B-4CF4-BF27-1F723FA93C33}"/>
              </c:ext>
            </c:extLst>
          </c:dPt>
          <c:dPt>
            <c:idx val="1"/>
            <c:invertIfNegative val="0"/>
            <c:bubble3D val="0"/>
            <c:spPr>
              <a:solidFill>
                <a:srgbClr val="3F3F4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82B-4CF4-BF27-1F723FA93C33}"/>
              </c:ext>
            </c:extLst>
          </c:dPt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3F3F41"/>
                    </a:solidFill>
                    <a:latin typeface="Calibri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Random offer
(96 bundles, avg $59.52)</c:v>
                </c:pt>
                <c:pt idx="1">
                  <c:v>Fixed low-cost offer
(LSI + Basic TV, $37.00)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0.73</c:v>
                </c:pt>
                <c:pt idx="1">
                  <c:v>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82B-4CF4-BF27-1F723FA93C3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1" i="0" u="none" strike="noStrike">
                <a:solidFill>
                  <a:srgbClr val="6B6C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"/>
        </c:scaling>
        <c:delete val="0"/>
        <c:axPos val="l"/>
        <c:majorGridlines>
          <c:spPr>
            <a:ln w="6350" cap="flat">
              <a:solidFill>
                <a:srgbClr val="E8E6E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C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 rate</c:v>
                </c:pt>
              </c:strCache>
            </c:strRef>
          </c:tx>
          <c:spPr>
            <a:ln w="31750" cap="flat">
              <a:solidFill>
                <a:srgbClr val="D9481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9481F"/>
              </a:solidFill>
              <a:ln w="9525" cap="flat">
                <a:solidFill>
                  <a:srgbClr val="D9481F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0.95</c:v>
                </c:pt>
                <c:pt idx="1">
                  <c:v>1.19</c:v>
                </c:pt>
                <c:pt idx="2">
                  <c:v>1.37</c:v>
                </c:pt>
                <c:pt idx="3">
                  <c:v>1.85</c:v>
                </c:pt>
                <c:pt idx="4">
                  <c:v>2.08</c:v>
                </c:pt>
                <c:pt idx="5">
                  <c:v>2.2599999999999998</c:v>
                </c:pt>
                <c:pt idx="6">
                  <c:v>2.6</c:v>
                </c:pt>
                <c:pt idx="7">
                  <c:v>1.75</c:v>
                </c:pt>
                <c:pt idx="8">
                  <c:v>3.8</c:v>
                </c:pt>
                <c:pt idx="9">
                  <c:v>5.4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E20-44DC-AF64-0EF6D710C3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B6C6E"/>
                    </a:solidFill>
                    <a:latin typeface="Arial"/>
                  </a:defRPr>
                </a:pPr>
                <a:r>
                  <a:rPr lang="es-CO" sz="900" b="0" i="0" u="none" strike="noStrike" dirty="0">
                    <a:solidFill>
                      <a:srgbClr val="6B6C6E"/>
                    </a:solidFill>
                    <a:latin typeface="Arial"/>
                  </a:rPr>
                  <a:t>Training wave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C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"/>
        </c:scaling>
        <c:delete val="0"/>
        <c:axPos val="l"/>
        <c:majorGridlines>
          <c:spPr>
            <a:ln w="6350" cap="flat">
              <a:solidFill>
                <a:srgbClr val="E8E6E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C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AAA79D-A0C5-4266-8C67-FDD4D848E5A5}" type="datetimeFigureOut">
              <a:rPr lang="es-CO" smtClean="0"/>
              <a:t>19/07/2026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441696-1481-482B-B961-5A21567CAF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82947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AC9345-3067-42D6-A00A-DBE86179BB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22A8088-5F87-232C-1525-8CC67256E4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8114DA7-A7B4-0EC9-69D1-B1CE80B64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403AA-94E3-4A9D-98FE-AAE51EA1AD8C}" type="datetimeFigureOut">
              <a:rPr lang="es-CO" smtClean="0"/>
              <a:t>19/07/2026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4C2433-5BFB-AD0F-45F6-08E8600AB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D76E39E-CF34-8307-CDD6-3DB6FFF4D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7971E-A095-44A3-865E-CCE1735A1963}" type="slidenum">
              <a:rPr lang="es-CO" smtClean="0"/>
              <a:t>‹Nº›</a:t>
            </a:fld>
            <a:endParaRPr lang="es-CO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780D1F0A-E4F9-8A8E-A90D-C939C60542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902" y="296673"/>
            <a:ext cx="664596" cy="825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2645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41A511-1662-96A8-E8A2-D5E7027B1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71DEA3-CE54-8CAA-97CF-07699B8CE1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2C18D01-D715-F2C8-5B75-1AEEE1E47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403AA-94E3-4A9D-98FE-AAE51EA1AD8C}" type="datetimeFigureOut">
              <a:rPr lang="es-CO" smtClean="0"/>
              <a:t>19/07/2026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67E763C-8A5F-9D7D-F0B2-2BD6AE306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9695E28-50BF-091D-D2FF-58DF900E1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7971E-A095-44A3-865E-CCE1735A196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02026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297263-97F1-E7CA-E586-7FE896639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6A3C6FB-99A6-9A81-A849-9662D00A1E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C3F265D-0570-9D60-8B96-9144CD3FF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403AA-94E3-4A9D-98FE-AAE51EA1AD8C}" type="datetimeFigureOut">
              <a:rPr lang="es-CO" smtClean="0"/>
              <a:t>19/07/2026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76DC5CB-2074-0B3B-634D-4A7B881AE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776E202-83DD-896B-28C5-52B563B43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7971E-A095-44A3-865E-CCE1735A196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66492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1F7E98-3B0A-52EB-6AAC-938C5D436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717983D-1050-44FF-E82E-62BD52B266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A307C69-782D-EF6A-AAC5-E8B455730E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0433FCC-C36A-D918-53A0-FA9C307A8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403AA-94E3-4A9D-98FE-AAE51EA1AD8C}" type="datetimeFigureOut">
              <a:rPr lang="es-CO" smtClean="0"/>
              <a:t>19/07/2026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7907C47-4245-B179-EAF2-471DE6535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79B7369-3A06-51FE-1A0E-2724FDDBF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7971E-A095-44A3-865E-CCE1735A196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81221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BFFE1B-13DF-171A-1F6D-A0136785B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9AD1581-A8C6-B337-99DB-A5B42D6DC6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B60CFF7-2393-477F-5757-8F7EE3C863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3F2974F-C651-7251-1581-41141A9986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A62A7BD-A148-6ADB-25B3-3F035943BC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B3A8662-8831-4D74-DFF8-8A7561728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403AA-94E3-4A9D-98FE-AAE51EA1AD8C}" type="datetimeFigureOut">
              <a:rPr lang="es-CO" smtClean="0"/>
              <a:t>19/07/2026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0CFD6D7-3603-8BAA-B18D-F8D56D01D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B2977FD-2ED5-9633-9D35-F6EAF1EBE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7971E-A095-44A3-865E-CCE1735A196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28203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F5D137-1160-DC27-BE71-4791B6502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0B31327-E8FF-09BA-1BCD-D5626F299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403AA-94E3-4A9D-98FE-AAE51EA1AD8C}" type="datetimeFigureOut">
              <a:rPr lang="es-CO" smtClean="0"/>
              <a:t>19/07/2026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1E02CC2-E2F6-35C7-A222-93887779A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881A37B-49DA-33F1-DAF7-C50215136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7971E-A095-44A3-865E-CCE1735A196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46675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706E77E-CEC9-4E61-35FF-B03C4B259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403AA-94E3-4A9D-98FE-AAE51EA1AD8C}" type="datetimeFigureOut">
              <a:rPr lang="es-CO" smtClean="0"/>
              <a:t>19/07/2026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D3C2A00-AE45-E61D-E4FC-7D31D36F4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81F53D0-D50B-13AF-F75A-1E7FCD115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7971E-A095-44A3-865E-CCE1735A196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865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117969-3C5B-6EE8-57D7-701F9784D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E8AE9A6-F361-DF84-E0A1-F7F965F42D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806AA0F-0A00-7A9E-FB7F-C3B496443E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408BFCA-14E9-D07B-ABD2-15ECA63FB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403AA-94E3-4A9D-98FE-AAE51EA1AD8C}" type="datetimeFigureOut">
              <a:rPr lang="es-CO" smtClean="0"/>
              <a:t>19/07/2026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8DFEBE6-A00F-AD91-48F1-B44456F5A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77E98F3-255C-E33E-AA15-18725DDE2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7971E-A095-44A3-865E-CCE1735A196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2761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666F-B155-E1E0-1F7A-6AE092E2F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C17883A-B362-15B2-EAF6-3997F2295C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748EE08-D32E-5DD9-8823-21941CD9BF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CC09E4D-5C5E-0D03-E10C-4F797E96B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403AA-94E3-4A9D-98FE-AAE51EA1AD8C}" type="datetimeFigureOut">
              <a:rPr lang="es-CO" smtClean="0"/>
              <a:t>19/07/2026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415D3B4-FFD7-DFAE-D4E7-CC2659AEE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4EB9F85-B9AB-C44D-79A6-B871EC02D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7971E-A095-44A3-865E-CCE1735A196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37831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EF88C4-E1C8-D0AB-0EF1-F955F9A5B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628E957-ABAF-481B-06AA-5EA9B5BC7D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0DAC8E7-4417-1014-E1BF-68691F2B8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403AA-94E3-4A9D-98FE-AAE51EA1AD8C}" type="datetimeFigureOut">
              <a:rPr lang="es-CO" smtClean="0"/>
              <a:t>19/07/2026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CF35FB4-7D1F-55AA-F069-59D6C65F8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F2E91B8-E3F8-F547-3125-27F29B208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7971E-A095-44A3-865E-CCE1735A196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58076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53A5EFF-DAEE-DDC5-8CD6-05CCDFA477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1DD99DD-CFFB-6EF6-0B21-EBD7C16087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F0FABB-3C17-8948-6295-51F13060E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403AA-94E3-4A9D-98FE-AAE51EA1AD8C}" type="datetimeFigureOut">
              <a:rPr lang="es-CO" smtClean="0"/>
              <a:t>19/07/2026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9814D26-FA4B-104D-564E-F543B16C3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D0C90-FE97-06DF-9A6B-2A244F40B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7971E-A095-44A3-865E-CCE1735A196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814134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ARK">
    <p:bg>
      <p:bgPr>
        <a:solidFill>
          <a:srgbClr val="3F3F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4787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 t="-22000" b="-2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A97E5CF-A475-CA11-EF0B-D24D74A77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6FC8AC4-E8F2-AABD-C043-B54A0DB5D1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2CFD8CF-B60A-5258-E169-8C42725A96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A403AA-94E3-4A9D-98FE-AAE51EA1AD8C}" type="datetimeFigureOut">
              <a:rPr lang="es-CO" smtClean="0"/>
              <a:t>19/07/2026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D922E62-4276-3534-8460-49C7D124F9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833E2E7-B105-BCF9-405E-3879A67FA2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B7971E-A095-44A3-865E-CCE1735A196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05911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"/>
            <a:ext cx="12188952" cy="6858000"/>
          </a:xfrm>
          <a:prstGeom prst="rect">
            <a:avLst/>
          </a:prstGeom>
          <a:solidFill>
            <a:srgbClr val="3F3F4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9235440" y="-1463040"/>
            <a:ext cx="4937760" cy="4937760"/>
          </a:xfrm>
          <a:prstGeom prst="ellipse">
            <a:avLst/>
          </a:prstGeom>
          <a:solidFill>
            <a:srgbClr val="2A2A2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-1645920" y="4754880"/>
            <a:ext cx="4206240" cy="4206240"/>
          </a:xfrm>
          <a:prstGeom prst="ellipse">
            <a:avLst/>
          </a:prstGeom>
          <a:solidFill>
            <a:srgbClr val="F04E2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4"/>
          <p:cNvSpPr/>
          <p:nvPr/>
        </p:nvSpPr>
        <p:spPr>
          <a:xfrm>
            <a:off x="836676" y="2377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F7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CVM ANALYTICS CASE  ·  CELLMOV CROSS-SELL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2468880"/>
            <a:ext cx="10607040" cy="1645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AI-Driven Offer Personalization:</a:t>
            </a:r>
            <a:endParaRPr lang="en-US" sz="3400" dirty="0"/>
          </a:p>
          <a:p>
            <a:pPr marL="0" indent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One-Size-Fits-All to 4.7× Campaign Margin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822960" y="43434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9E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 offer-recommendation model to optimize a CVM campaign with Machine Learning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922618" y="5989320"/>
            <a:ext cx="241594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Silva Barrera</a:t>
            </a:r>
            <a:r>
              <a:rPr lang="en-US" sz="1250" dirty="0">
                <a:solidFill>
                  <a:srgbClr val="E9E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  July 2026</a:t>
            </a:r>
            <a:endParaRPr lang="en-US" sz="1250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60307B93-6331-48D5-1001-69A64281E1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60" y="247260"/>
            <a:ext cx="1346578" cy="16729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0">
            <a:extLst>
              <a:ext uri="{FF2B5EF4-FFF2-40B4-BE49-F238E27FC236}">
                <a16:creationId xmlns:a16="http://schemas.microsoft.com/office/drawing/2014/main" id="{0DACF37F-C94F-C72C-90C7-0218AFA96CC8}"/>
              </a:ext>
            </a:extLst>
          </p:cNvPr>
          <p:cNvSpPr/>
          <p:nvPr/>
        </p:nvSpPr>
        <p:spPr>
          <a:xfrm>
            <a:off x="13081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4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050" dirty="0"/>
          </a:p>
        </p:txBody>
      </p:sp>
      <p:sp>
        <p:nvSpPr>
          <p:cNvPr id="23" name="Text 1">
            <a:extLst>
              <a:ext uri="{FF2B5EF4-FFF2-40B4-BE49-F238E27FC236}">
                <a16:creationId xmlns:a16="http://schemas.microsoft.com/office/drawing/2014/main" id="{6259D9AF-C6BA-E31E-AB88-F772172D2ADA}"/>
              </a:ext>
            </a:extLst>
          </p:cNvPr>
          <p:cNvSpPr/>
          <p:nvPr/>
        </p:nvSpPr>
        <p:spPr>
          <a:xfrm>
            <a:off x="1308100" y="438912"/>
            <a:ext cx="103779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300" b="1" dirty="0">
                <a:solidFill>
                  <a:srgbClr val="3F3F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AI offer recommender multiplies campaign margin 4.7× vs. today’s fixed low-cost strategy, adding $105K per 50K-lead wave</a:t>
            </a:r>
            <a:endParaRPr lang="en-US" sz="2300" dirty="0"/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1B60184D-B596-13BA-1DA2-563279CF9616}"/>
              </a:ext>
            </a:extLst>
          </p:cNvPr>
          <p:cNvGrpSpPr/>
          <p:nvPr/>
        </p:nvGrpSpPr>
        <p:grpSpPr>
          <a:xfrm>
            <a:off x="522170" y="1536192"/>
            <a:ext cx="475488" cy="475488"/>
            <a:chOff x="502920" y="1536192"/>
            <a:chExt cx="475488" cy="475488"/>
          </a:xfrm>
        </p:grpSpPr>
        <p:sp>
          <p:nvSpPr>
            <p:cNvPr id="25" name="Shape 2">
              <a:extLst>
                <a:ext uri="{FF2B5EF4-FFF2-40B4-BE49-F238E27FC236}">
                  <a16:creationId xmlns:a16="http://schemas.microsoft.com/office/drawing/2014/main" id="{6CC6571A-A15B-42E7-33A5-AA4073BB81A7}"/>
                </a:ext>
              </a:extLst>
            </p:cNvPr>
            <p:cNvSpPr/>
            <p:nvPr/>
          </p:nvSpPr>
          <p:spPr>
            <a:xfrm>
              <a:off x="502920" y="1536192"/>
              <a:ext cx="475488" cy="475488"/>
            </a:xfrm>
            <a:prstGeom prst="ellipse">
              <a:avLst/>
            </a:prstGeom>
            <a:solidFill>
              <a:srgbClr val="3F3F41"/>
            </a:solidFill>
            <a:ln/>
          </p:spPr>
          <p:txBody>
            <a:bodyPr/>
            <a:lstStyle/>
            <a:p>
              <a:endParaRPr lang="es-CO"/>
            </a:p>
          </p:txBody>
        </p:sp>
        <p:pic>
          <p:nvPicPr>
            <p:cNvPr id="27" name="Image 0" descr="icons/users_white.png">
              <a:extLst>
                <a:ext uri="{FF2B5EF4-FFF2-40B4-BE49-F238E27FC236}">
                  <a16:creationId xmlns:a16="http://schemas.microsoft.com/office/drawing/2014/main" id="{E662CDA5-8868-BD45-16F5-E1B04B4FC0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6547" y="1659819"/>
              <a:ext cx="228234" cy="228234"/>
            </a:xfrm>
            <a:prstGeom prst="rect">
              <a:avLst/>
            </a:prstGeom>
          </p:spPr>
        </p:pic>
      </p:grpSp>
      <p:sp>
        <p:nvSpPr>
          <p:cNvPr id="29" name="Text 3">
            <a:extLst>
              <a:ext uri="{FF2B5EF4-FFF2-40B4-BE49-F238E27FC236}">
                <a16:creationId xmlns:a16="http://schemas.microsoft.com/office/drawing/2014/main" id="{D21B9088-55ED-248B-D704-B9D049A0F800}"/>
              </a:ext>
            </a:extLst>
          </p:cNvPr>
          <p:cNvSpPr/>
          <p:nvPr/>
        </p:nvSpPr>
        <p:spPr>
          <a:xfrm>
            <a:off x="1297000" y="164592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3F3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1350" dirty="0"/>
          </a:p>
        </p:txBody>
      </p:sp>
      <p:sp>
        <p:nvSpPr>
          <p:cNvPr id="31" name="Text 4">
            <a:extLst>
              <a:ext uri="{FF2B5EF4-FFF2-40B4-BE49-F238E27FC236}">
                <a16:creationId xmlns:a16="http://schemas.microsoft.com/office/drawing/2014/main" id="{63DE7DC6-E978-4237-7476-40D993E174BB}"/>
              </a:ext>
            </a:extLst>
          </p:cNvPr>
          <p:cNvSpPr/>
          <p:nvPr/>
        </p:nvSpPr>
        <p:spPr>
          <a:xfrm>
            <a:off x="2606040" y="1481328"/>
            <a:ext cx="41605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CellMov leads mobile but is a distant #2 in fixed broadband</a:t>
            </a: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Cross-sell via outbound calls is the growth lever, and the first offer pitched decides the call.</a:t>
            </a:r>
            <a:endParaRPr lang="en-US" sz="1150" dirty="0"/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1C1BFB84-3EA1-8C8A-E618-CF6DD7919FCD}"/>
              </a:ext>
            </a:extLst>
          </p:cNvPr>
          <p:cNvGrpSpPr/>
          <p:nvPr/>
        </p:nvGrpSpPr>
        <p:grpSpPr>
          <a:xfrm>
            <a:off x="522170" y="2864358"/>
            <a:ext cx="475488" cy="475488"/>
            <a:chOff x="502920" y="2834640"/>
            <a:chExt cx="475488" cy="475488"/>
          </a:xfrm>
        </p:grpSpPr>
        <p:sp>
          <p:nvSpPr>
            <p:cNvPr id="33" name="Shape 5">
              <a:extLst>
                <a:ext uri="{FF2B5EF4-FFF2-40B4-BE49-F238E27FC236}">
                  <a16:creationId xmlns:a16="http://schemas.microsoft.com/office/drawing/2014/main" id="{567AEE58-35E9-C427-85AB-68F984DCAC63}"/>
                </a:ext>
              </a:extLst>
            </p:cNvPr>
            <p:cNvSpPr/>
            <p:nvPr/>
          </p:nvSpPr>
          <p:spPr>
            <a:xfrm>
              <a:off x="502920" y="2834640"/>
              <a:ext cx="475488" cy="475488"/>
            </a:xfrm>
            <a:prstGeom prst="ellipse">
              <a:avLst/>
            </a:prstGeom>
            <a:solidFill>
              <a:srgbClr val="6B6C6E"/>
            </a:solidFill>
            <a:ln/>
          </p:spPr>
          <p:txBody>
            <a:bodyPr/>
            <a:lstStyle/>
            <a:p>
              <a:endParaRPr lang="es-CO"/>
            </a:p>
          </p:txBody>
        </p:sp>
        <p:pic>
          <p:nvPicPr>
            <p:cNvPr id="35" name="Image 1" descr="icons/warn_white.png">
              <a:extLst>
                <a:ext uri="{FF2B5EF4-FFF2-40B4-BE49-F238E27FC236}">
                  <a16:creationId xmlns:a16="http://schemas.microsoft.com/office/drawing/2014/main" id="{BCF42CEB-F045-BE2F-95F5-3ABAAC3951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6547" y="2958267"/>
              <a:ext cx="228234" cy="228234"/>
            </a:xfrm>
            <a:prstGeom prst="rect">
              <a:avLst/>
            </a:prstGeom>
          </p:spPr>
        </p:pic>
      </p:grpSp>
      <p:sp>
        <p:nvSpPr>
          <p:cNvPr id="37" name="Text 6">
            <a:extLst>
              <a:ext uri="{FF2B5EF4-FFF2-40B4-BE49-F238E27FC236}">
                <a16:creationId xmlns:a16="http://schemas.microsoft.com/office/drawing/2014/main" id="{3EB69A06-63A7-6646-6A8A-093265B55675}"/>
              </a:ext>
            </a:extLst>
          </p:cNvPr>
          <p:cNvSpPr/>
          <p:nvPr/>
        </p:nvSpPr>
        <p:spPr>
          <a:xfrm>
            <a:off x="1297000" y="2975742"/>
            <a:ext cx="1417320" cy="2527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3F3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Complication</a:t>
            </a:r>
            <a:endParaRPr lang="en-US" sz="1350" dirty="0"/>
          </a:p>
        </p:txBody>
      </p:sp>
      <p:sp>
        <p:nvSpPr>
          <p:cNvPr id="39" name="Text 7">
            <a:extLst>
              <a:ext uri="{FF2B5EF4-FFF2-40B4-BE49-F238E27FC236}">
                <a16:creationId xmlns:a16="http://schemas.microsoft.com/office/drawing/2014/main" id="{3AFAE0BF-8587-41B4-32CB-D6122A377A0D}"/>
              </a:ext>
            </a:extLst>
          </p:cNvPr>
          <p:cNvSpPr/>
          <p:nvPr/>
        </p:nvSpPr>
        <p:spPr>
          <a:xfrm>
            <a:off x="2606040" y="2823210"/>
            <a:ext cx="41605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assignment is non-analytical. </a:t>
            </a:r>
            <a:r>
              <a:rPr lang="en-US" sz="11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offers convert 0.9%</a:t>
            </a: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 ops one-size-fits-all </a:t>
            </a:r>
            <a:r>
              <a:rPr lang="en-US" sz="11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offer converts 2.3%</a:t>
            </a: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but caps value at $25.06 margin per convert, it sells the cheapest bundle to everyone.</a:t>
            </a:r>
            <a:endParaRPr lang="en-US" sz="1150" dirty="0"/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3952230F-1CFD-CB00-959B-BADC97A80D64}"/>
              </a:ext>
            </a:extLst>
          </p:cNvPr>
          <p:cNvGrpSpPr/>
          <p:nvPr/>
        </p:nvGrpSpPr>
        <p:grpSpPr>
          <a:xfrm>
            <a:off x="522170" y="4183620"/>
            <a:ext cx="475488" cy="475488"/>
            <a:chOff x="502920" y="4133088"/>
            <a:chExt cx="475488" cy="475488"/>
          </a:xfrm>
        </p:grpSpPr>
        <p:sp>
          <p:nvSpPr>
            <p:cNvPr id="41" name="Shape 8">
              <a:extLst>
                <a:ext uri="{FF2B5EF4-FFF2-40B4-BE49-F238E27FC236}">
                  <a16:creationId xmlns:a16="http://schemas.microsoft.com/office/drawing/2014/main" id="{3AB7B65D-78EB-B78F-1934-8AEFBEB2E158}"/>
                </a:ext>
              </a:extLst>
            </p:cNvPr>
            <p:cNvSpPr/>
            <p:nvPr/>
          </p:nvSpPr>
          <p:spPr>
            <a:xfrm>
              <a:off x="502920" y="4133088"/>
              <a:ext cx="475488" cy="475488"/>
            </a:xfrm>
            <a:prstGeom prst="ellipse">
              <a:avLst/>
            </a:prstGeom>
            <a:solidFill>
              <a:srgbClr val="D9481F"/>
            </a:solidFill>
            <a:ln/>
          </p:spPr>
          <p:txBody>
            <a:bodyPr/>
            <a:lstStyle/>
            <a:p>
              <a:endParaRPr lang="es-CO"/>
            </a:p>
          </p:txBody>
        </p:sp>
        <p:pic>
          <p:nvPicPr>
            <p:cNvPr id="43" name="Image 2" descr="icons/bullseye_white.png">
              <a:extLst>
                <a:ext uri="{FF2B5EF4-FFF2-40B4-BE49-F238E27FC236}">
                  <a16:creationId xmlns:a16="http://schemas.microsoft.com/office/drawing/2014/main" id="{30D3D4AA-2AD3-3A88-C247-8733F3F63A2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6547" y="4256715"/>
              <a:ext cx="228234" cy="228234"/>
            </a:xfrm>
            <a:prstGeom prst="rect">
              <a:avLst/>
            </a:prstGeom>
          </p:spPr>
        </p:pic>
      </p:grpSp>
      <p:sp>
        <p:nvSpPr>
          <p:cNvPr id="45" name="Text 9">
            <a:extLst>
              <a:ext uri="{FF2B5EF4-FFF2-40B4-BE49-F238E27FC236}">
                <a16:creationId xmlns:a16="http://schemas.microsoft.com/office/drawing/2014/main" id="{BC6A104A-13DF-9D6B-13A1-32D9D6E23A8F}"/>
              </a:ext>
            </a:extLst>
          </p:cNvPr>
          <p:cNvSpPr/>
          <p:nvPr/>
        </p:nvSpPr>
        <p:spPr>
          <a:xfrm>
            <a:off x="1297000" y="4295004"/>
            <a:ext cx="1417320" cy="2527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3F3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350" dirty="0"/>
          </a:p>
        </p:txBody>
      </p:sp>
      <p:sp>
        <p:nvSpPr>
          <p:cNvPr id="47" name="Text 10">
            <a:extLst>
              <a:ext uri="{FF2B5EF4-FFF2-40B4-BE49-F238E27FC236}">
                <a16:creationId xmlns:a16="http://schemas.microsoft.com/office/drawing/2014/main" id="{6F00C8C2-8BFF-D251-0BC8-65C37CB88943}"/>
              </a:ext>
            </a:extLst>
          </p:cNvPr>
          <p:cNvSpPr/>
          <p:nvPr/>
        </p:nvSpPr>
        <p:spPr>
          <a:xfrm>
            <a:off x="2606040" y="4078224"/>
            <a:ext cx="4160520" cy="686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contextual-bandit recommender assigns each customer the valid bundle maximizing expected margin: P(convert) × bundle margin, </a:t>
            </a:r>
            <a:r>
              <a:rPr lang="en-US" sz="11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reaching 5.7% conversion and $133,848 margin</a:t>
            </a: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the official 50K test base.</a:t>
            </a:r>
            <a:endParaRPr lang="en-US" sz="1150" dirty="0"/>
          </a:p>
        </p:txBody>
      </p:sp>
      <p:sp>
        <p:nvSpPr>
          <p:cNvPr id="49" name="Shape 11">
            <a:extLst>
              <a:ext uri="{FF2B5EF4-FFF2-40B4-BE49-F238E27FC236}">
                <a16:creationId xmlns:a16="http://schemas.microsoft.com/office/drawing/2014/main" id="{F88C17BC-52EC-4B84-314C-E838A24A9F0F}"/>
              </a:ext>
            </a:extLst>
          </p:cNvPr>
          <p:cNvSpPr/>
          <p:nvPr/>
        </p:nvSpPr>
        <p:spPr>
          <a:xfrm>
            <a:off x="6871478" y="1417320"/>
            <a:ext cx="4718304" cy="3913632"/>
          </a:xfrm>
          <a:prstGeom prst="roundRect">
            <a:avLst>
              <a:gd name="adj" fmla="val 186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1" name="Text 12">
            <a:extLst>
              <a:ext uri="{FF2B5EF4-FFF2-40B4-BE49-F238E27FC236}">
                <a16:creationId xmlns:a16="http://schemas.microsoft.com/office/drawing/2014/main" id="{466B1E65-4BB9-BAD4-B55D-2EDDCC18CF5C}"/>
              </a:ext>
            </a:extLst>
          </p:cNvPr>
          <p:cNvSpPr/>
          <p:nvPr/>
        </p:nvSpPr>
        <p:spPr>
          <a:xfrm>
            <a:off x="7081790" y="153619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F3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expected margin: Official 50K validation base</a:t>
            </a:r>
            <a:endParaRPr lang="en-US" sz="1400" dirty="0"/>
          </a:p>
        </p:txBody>
      </p:sp>
      <p:pic>
        <p:nvPicPr>
          <p:cNvPr id="53" name="Image 3" descr="nb_images/img_12.png">
            <a:extLst>
              <a:ext uri="{FF2B5EF4-FFF2-40B4-BE49-F238E27FC236}">
                <a16:creationId xmlns:a16="http://schemas.microsoft.com/office/drawing/2014/main" id="{4833DB4A-E24B-A975-B42F-46E177EED2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1790" y="1847088"/>
            <a:ext cx="4297680" cy="2999232"/>
          </a:xfrm>
          <a:prstGeom prst="rect">
            <a:avLst/>
          </a:prstGeom>
        </p:spPr>
      </p:pic>
      <p:sp>
        <p:nvSpPr>
          <p:cNvPr id="55" name="Text 13">
            <a:extLst>
              <a:ext uri="{FF2B5EF4-FFF2-40B4-BE49-F238E27FC236}">
                <a16:creationId xmlns:a16="http://schemas.microsoft.com/office/drawing/2014/main" id="{29A5D1BE-5AC5-1D21-AE82-7AA68FB4DD68}"/>
              </a:ext>
            </a:extLst>
          </p:cNvPr>
          <p:cNvSpPr/>
          <p:nvPr/>
        </p:nvSpPr>
        <p:spPr>
          <a:xfrm>
            <a:off x="7081790" y="4956048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final_test_validation_base</a:t>
            </a:r>
            <a:endParaRPr lang="en-US" sz="900" dirty="0"/>
          </a:p>
        </p:txBody>
      </p:sp>
      <p:sp>
        <p:nvSpPr>
          <p:cNvPr id="57" name="Shape 14">
            <a:extLst>
              <a:ext uri="{FF2B5EF4-FFF2-40B4-BE49-F238E27FC236}">
                <a16:creationId xmlns:a16="http://schemas.microsoft.com/office/drawing/2014/main" id="{14351631-F05F-DE34-2F9E-A3F96E0A4910}"/>
              </a:ext>
            </a:extLst>
          </p:cNvPr>
          <p:cNvSpPr/>
          <p:nvPr/>
        </p:nvSpPr>
        <p:spPr>
          <a:xfrm>
            <a:off x="502920" y="5504688"/>
            <a:ext cx="11183112" cy="1005840"/>
          </a:xfrm>
          <a:prstGeom prst="roundRect">
            <a:avLst>
              <a:gd name="adj" fmla="val 6364"/>
            </a:avLst>
          </a:prstGeom>
          <a:solidFill>
            <a:srgbClr val="3F3F4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9" name="Text 15">
            <a:extLst>
              <a:ext uri="{FF2B5EF4-FFF2-40B4-BE49-F238E27FC236}">
                <a16:creationId xmlns:a16="http://schemas.microsoft.com/office/drawing/2014/main" id="{EC56A3B6-8890-5142-8E51-D1E8F59577F1}"/>
              </a:ext>
            </a:extLst>
          </p:cNvPr>
          <p:cNvSpPr/>
          <p:nvPr/>
        </p:nvSpPr>
        <p:spPr>
          <a:xfrm>
            <a:off x="866274" y="5632704"/>
            <a:ext cx="233653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0.9% → 2.3% → 5.7%</a:t>
            </a:r>
            <a:endParaRPr lang="en-US" sz="1700" dirty="0"/>
          </a:p>
        </p:txBody>
      </p:sp>
      <p:sp>
        <p:nvSpPr>
          <p:cNvPr id="61" name="Text 16">
            <a:extLst>
              <a:ext uri="{FF2B5EF4-FFF2-40B4-BE49-F238E27FC236}">
                <a16:creationId xmlns:a16="http://schemas.microsoft.com/office/drawing/2014/main" id="{097478FD-DAED-B7A1-587E-6B256B890FE7}"/>
              </a:ext>
            </a:extLst>
          </p:cNvPr>
          <p:cNvSpPr/>
          <p:nvPr/>
        </p:nvSpPr>
        <p:spPr>
          <a:xfrm>
            <a:off x="685800" y="605332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kern="0" spc="100" dirty="0">
                <a:solidFill>
                  <a:srgbClr val="E9E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CONVERSION: RANDOM → LOW-COST → BANDIT</a:t>
            </a:r>
            <a:endParaRPr lang="en-US" sz="820" dirty="0"/>
          </a:p>
        </p:txBody>
      </p:sp>
      <p:sp>
        <p:nvSpPr>
          <p:cNvPr id="63" name="Text 17">
            <a:extLst>
              <a:ext uri="{FF2B5EF4-FFF2-40B4-BE49-F238E27FC236}">
                <a16:creationId xmlns:a16="http://schemas.microsoft.com/office/drawing/2014/main" id="{F0A406B3-6DF6-F3C5-16BB-AB7A6A974BA5}"/>
              </a:ext>
            </a:extLst>
          </p:cNvPr>
          <p:cNvSpPr/>
          <p:nvPr/>
        </p:nvSpPr>
        <p:spPr>
          <a:xfrm>
            <a:off x="4023361" y="5632704"/>
            <a:ext cx="1414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$2.68 vs $0.57</a:t>
            </a:r>
            <a:endParaRPr lang="en-US" sz="1700" dirty="0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D77A2DD6-AF60-ACC3-481F-55BED18114E7}"/>
              </a:ext>
            </a:extLst>
          </p:cNvPr>
          <p:cNvSpPr/>
          <p:nvPr/>
        </p:nvSpPr>
        <p:spPr>
          <a:xfrm>
            <a:off x="3792355" y="6053328"/>
            <a:ext cx="18769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kern="0" spc="100" dirty="0">
                <a:solidFill>
                  <a:srgbClr val="E9E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PER LEAD VS. LOW-COST</a:t>
            </a:r>
            <a:endParaRPr lang="en-US" sz="820" dirty="0"/>
          </a:p>
        </p:txBody>
      </p:sp>
      <p:sp>
        <p:nvSpPr>
          <p:cNvPr id="67" name="Text 19">
            <a:extLst>
              <a:ext uri="{FF2B5EF4-FFF2-40B4-BE49-F238E27FC236}">
                <a16:creationId xmlns:a16="http://schemas.microsoft.com/office/drawing/2014/main" id="{49613B1D-58FC-58DB-0E3E-2D398EDFA8E9}"/>
              </a:ext>
            </a:extLst>
          </p:cNvPr>
          <p:cNvSpPr/>
          <p:nvPr/>
        </p:nvSpPr>
        <p:spPr>
          <a:xfrm>
            <a:off x="6355080" y="5632704"/>
            <a:ext cx="200446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78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4.67×  (+$105,205)</a:t>
            </a:r>
            <a:endParaRPr lang="en-US" sz="1700" dirty="0"/>
          </a:p>
        </p:txBody>
      </p:sp>
      <p:sp>
        <p:nvSpPr>
          <p:cNvPr id="69" name="Text 20">
            <a:extLst>
              <a:ext uri="{FF2B5EF4-FFF2-40B4-BE49-F238E27FC236}">
                <a16:creationId xmlns:a16="http://schemas.microsoft.com/office/drawing/2014/main" id="{44FCE3A2-9EEA-ED07-86BE-283C6402D3A5}"/>
              </a:ext>
            </a:extLst>
          </p:cNvPr>
          <p:cNvSpPr/>
          <p:nvPr/>
        </p:nvSpPr>
        <p:spPr>
          <a:xfrm>
            <a:off x="6263640" y="6053328"/>
            <a:ext cx="218734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kern="0" spc="100" dirty="0">
                <a:solidFill>
                  <a:srgbClr val="E9E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LIFT VS. LOW-COST STRATEGY</a:t>
            </a:r>
            <a:endParaRPr lang="en-US" sz="820" dirty="0"/>
          </a:p>
        </p:txBody>
      </p:sp>
      <p:sp>
        <p:nvSpPr>
          <p:cNvPr id="71" name="Text 21">
            <a:extLst>
              <a:ext uri="{FF2B5EF4-FFF2-40B4-BE49-F238E27FC236}">
                <a16:creationId xmlns:a16="http://schemas.microsoft.com/office/drawing/2014/main" id="{47FC7361-0D88-D294-16E5-681284758EDB}"/>
              </a:ext>
            </a:extLst>
          </p:cNvPr>
          <p:cNvSpPr/>
          <p:nvPr/>
        </p:nvSpPr>
        <p:spPr>
          <a:xfrm>
            <a:off x="9052560" y="5632704"/>
            <a:ext cx="200446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78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7.11×  (+$115,020)</a:t>
            </a:r>
            <a:endParaRPr lang="en-US" sz="1700" dirty="0"/>
          </a:p>
        </p:txBody>
      </p:sp>
      <p:sp>
        <p:nvSpPr>
          <p:cNvPr id="73" name="Text 22">
            <a:extLst>
              <a:ext uri="{FF2B5EF4-FFF2-40B4-BE49-F238E27FC236}">
                <a16:creationId xmlns:a16="http://schemas.microsoft.com/office/drawing/2014/main" id="{86D61F99-9DD6-78FD-FE19-F61A0FEFEF1F}"/>
              </a:ext>
            </a:extLst>
          </p:cNvPr>
          <p:cNvSpPr/>
          <p:nvPr/>
        </p:nvSpPr>
        <p:spPr>
          <a:xfrm>
            <a:off x="9052560" y="6053328"/>
            <a:ext cx="200446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kern="0" spc="100" dirty="0">
                <a:solidFill>
                  <a:srgbClr val="E9E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LIFT VS. RANDOM BASELINE</a:t>
            </a:r>
            <a:endParaRPr lang="en-US" sz="820" dirty="0"/>
          </a:p>
        </p:txBody>
      </p:sp>
    </p:spTree>
    <p:extLst>
      <p:ext uri="{BB962C8B-B14F-4D97-AF65-F5344CB8AC3E}">
        <p14:creationId xmlns:p14="http://schemas.microsoft.com/office/powerpoint/2010/main" val="662020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AB677-D45F-0A80-33DF-26D11DA0A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16768335-C0D0-F49F-EE50-539BC46CD874}"/>
              </a:ext>
            </a:extLst>
          </p:cNvPr>
          <p:cNvSpPr/>
          <p:nvPr/>
        </p:nvSpPr>
        <p:spPr>
          <a:xfrm>
            <a:off x="1301817" y="244479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4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BASE PROFILING</a:t>
            </a:r>
            <a:endParaRPr lang="en-US" sz="105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DCF67C8D-DC4C-CB5C-EC63-030529963FED}"/>
              </a:ext>
            </a:extLst>
          </p:cNvPr>
          <p:cNvSpPr/>
          <p:nvPr/>
        </p:nvSpPr>
        <p:spPr>
          <a:xfrm>
            <a:off x="1301817" y="427359"/>
            <a:ext cx="10356783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300" b="1" dirty="0">
                <a:solidFill>
                  <a:srgbClr val="3F3F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100K lead base is not one market: Segment, mobility and streaming behavior define micro-segments with different willingness to pay</a:t>
            </a:r>
            <a:endParaRPr lang="en-US" sz="23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8FB4A0F7-5715-2C1B-B516-AB7540B7D637}"/>
              </a:ext>
            </a:extLst>
          </p:cNvPr>
          <p:cNvSpPr/>
          <p:nvPr/>
        </p:nvSpPr>
        <p:spPr>
          <a:xfrm>
            <a:off x="3013911" y="1371600"/>
            <a:ext cx="155808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3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the leads are?</a:t>
            </a:r>
            <a:endParaRPr lang="en-US" sz="1400" dirty="0"/>
          </a:p>
        </p:txBody>
      </p:sp>
      <p:pic>
        <p:nvPicPr>
          <p:cNvPr id="9" name="Image 0" descr="nb_images/img_00.png">
            <a:extLst>
              <a:ext uri="{FF2B5EF4-FFF2-40B4-BE49-F238E27FC236}">
                <a16:creationId xmlns:a16="http://schemas.microsoft.com/office/drawing/2014/main" id="{E697672E-64A8-163B-8094-0EBB39ED27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45920"/>
            <a:ext cx="6355080" cy="2221992"/>
          </a:xfrm>
          <a:prstGeom prst="rect">
            <a:avLst/>
          </a:prstGeom>
        </p:spPr>
      </p:pic>
      <p:sp>
        <p:nvSpPr>
          <p:cNvPr id="11" name="Text 3">
            <a:extLst>
              <a:ext uri="{FF2B5EF4-FFF2-40B4-BE49-F238E27FC236}">
                <a16:creationId xmlns:a16="http://schemas.microsoft.com/office/drawing/2014/main" id="{9CA9B491-BD56-F67D-0554-66D0A8AD2712}"/>
              </a:ext>
            </a:extLst>
          </p:cNvPr>
          <p:cNvSpPr/>
          <p:nvPr/>
        </p:nvSpPr>
        <p:spPr>
          <a:xfrm>
            <a:off x="2985034" y="4005072"/>
            <a:ext cx="15869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3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consume?</a:t>
            </a:r>
            <a:endParaRPr lang="en-US" sz="1400" dirty="0"/>
          </a:p>
        </p:txBody>
      </p:sp>
      <p:pic>
        <p:nvPicPr>
          <p:cNvPr id="13" name="Image 1" descr="nb_images/img_04.png">
            <a:extLst>
              <a:ext uri="{FF2B5EF4-FFF2-40B4-BE49-F238E27FC236}">
                <a16:creationId xmlns:a16="http://schemas.microsoft.com/office/drawing/2014/main" id="{A997DAA9-A5AE-47EE-38DD-138F1307A8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020" y="4279392"/>
            <a:ext cx="4754880" cy="2350008"/>
          </a:xfrm>
          <a:prstGeom prst="rect">
            <a:avLst/>
          </a:prstGeom>
        </p:spPr>
      </p:pic>
      <p:sp>
        <p:nvSpPr>
          <p:cNvPr id="15" name="Shape 4">
            <a:extLst>
              <a:ext uri="{FF2B5EF4-FFF2-40B4-BE49-F238E27FC236}">
                <a16:creationId xmlns:a16="http://schemas.microsoft.com/office/drawing/2014/main" id="{21064168-F674-D34F-5A07-48B24D4F6604}"/>
              </a:ext>
            </a:extLst>
          </p:cNvPr>
          <p:cNvSpPr/>
          <p:nvPr/>
        </p:nvSpPr>
        <p:spPr>
          <a:xfrm>
            <a:off x="7059168" y="1481328"/>
            <a:ext cx="448056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Shape 5">
            <a:extLst>
              <a:ext uri="{FF2B5EF4-FFF2-40B4-BE49-F238E27FC236}">
                <a16:creationId xmlns:a16="http://schemas.microsoft.com/office/drawing/2014/main" id="{490DC44C-C8E9-D3D1-CF43-36CE0BF7A9BF}"/>
              </a:ext>
            </a:extLst>
          </p:cNvPr>
          <p:cNvSpPr/>
          <p:nvPr/>
        </p:nvSpPr>
        <p:spPr>
          <a:xfrm>
            <a:off x="7242048" y="1645920"/>
            <a:ext cx="384048" cy="384048"/>
          </a:xfrm>
          <a:prstGeom prst="ellipse">
            <a:avLst/>
          </a:prstGeom>
          <a:solidFill>
            <a:srgbClr val="3F3F4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9" name="Image 2" descr="icons/search_white.png">
            <a:extLst>
              <a:ext uri="{FF2B5EF4-FFF2-40B4-BE49-F238E27FC236}">
                <a16:creationId xmlns:a16="http://schemas.microsoft.com/office/drawing/2014/main" id="{B4B06DEF-7DC7-F007-3A71-2C4CE53635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1900" y="1745772"/>
            <a:ext cx="184343" cy="184343"/>
          </a:xfrm>
          <a:prstGeom prst="rect">
            <a:avLst/>
          </a:prstGeom>
        </p:spPr>
      </p:pic>
      <p:sp>
        <p:nvSpPr>
          <p:cNvPr id="21" name="Text 6">
            <a:extLst>
              <a:ext uri="{FF2B5EF4-FFF2-40B4-BE49-F238E27FC236}">
                <a16:creationId xmlns:a16="http://schemas.microsoft.com/office/drawing/2014/main" id="{D6AA2F95-3DD0-F725-D93D-476F0784369B}"/>
              </a:ext>
            </a:extLst>
          </p:cNvPr>
          <p:cNvSpPr/>
          <p:nvPr/>
        </p:nvSpPr>
        <p:spPr>
          <a:xfrm>
            <a:off x="7772400" y="160934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3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Affluence is scarce, not volume</a:t>
            </a:r>
            <a:endParaRPr lang="en-US" sz="1400" dirty="0"/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3B8B8D2C-C3F1-858C-7219-D93B64EA997A}"/>
              </a:ext>
            </a:extLst>
          </p:cNvPr>
          <p:cNvSpPr/>
          <p:nvPr/>
        </p:nvSpPr>
        <p:spPr>
          <a:xfrm>
            <a:off x="7772400" y="1901952"/>
            <a:ext cx="37673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A is a minority of leads yet,</a:t>
            </a: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the model later confirms (+2.83 log-odds), carries the highest conversion propensity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Lead quality, not quantity, is the binding constraint.</a:t>
            </a:r>
            <a:endParaRPr lang="en-US" sz="1200" dirty="0"/>
          </a:p>
        </p:txBody>
      </p:sp>
      <p:sp>
        <p:nvSpPr>
          <p:cNvPr id="25" name="Shape 8">
            <a:extLst>
              <a:ext uri="{FF2B5EF4-FFF2-40B4-BE49-F238E27FC236}">
                <a16:creationId xmlns:a16="http://schemas.microsoft.com/office/drawing/2014/main" id="{836F6E00-7207-D26E-DF21-C95B27676073}"/>
              </a:ext>
            </a:extLst>
          </p:cNvPr>
          <p:cNvSpPr/>
          <p:nvPr/>
        </p:nvSpPr>
        <p:spPr>
          <a:xfrm>
            <a:off x="7059168" y="3118104"/>
            <a:ext cx="448056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7" name="Shape 9">
            <a:extLst>
              <a:ext uri="{FF2B5EF4-FFF2-40B4-BE49-F238E27FC236}">
                <a16:creationId xmlns:a16="http://schemas.microsoft.com/office/drawing/2014/main" id="{8DBE1DE5-94D9-CFB2-A2C0-FCF637E2FF11}"/>
              </a:ext>
            </a:extLst>
          </p:cNvPr>
          <p:cNvSpPr/>
          <p:nvPr/>
        </p:nvSpPr>
        <p:spPr>
          <a:xfrm>
            <a:off x="7242048" y="3282696"/>
            <a:ext cx="384048" cy="384048"/>
          </a:xfrm>
          <a:prstGeom prst="ellipse">
            <a:avLst/>
          </a:prstGeom>
          <a:solidFill>
            <a:srgbClr val="3F3F4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9" name="Image 3" descr="icons/eye_white.png">
            <a:extLst>
              <a:ext uri="{FF2B5EF4-FFF2-40B4-BE49-F238E27FC236}">
                <a16:creationId xmlns:a16="http://schemas.microsoft.com/office/drawing/2014/main" id="{E0B72D1C-D20A-E7AD-3469-91369DC91A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1900" y="3382548"/>
            <a:ext cx="184343" cy="184343"/>
          </a:xfrm>
          <a:prstGeom prst="rect">
            <a:avLst/>
          </a:prstGeom>
        </p:spPr>
      </p:pic>
      <p:sp>
        <p:nvSpPr>
          <p:cNvPr id="31" name="Text 10">
            <a:extLst>
              <a:ext uri="{FF2B5EF4-FFF2-40B4-BE49-F238E27FC236}">
                <a16:creationId xmlns:a16="http://schemas.microsoft.com/office/drawing/2014/main" id="{99A684FA-04BD-D797-1549-FE628C4A0F36}"/>
              </a:ext>
            </a:extLst>
          </p:cNvPr>
          <p:cNvSpPr/>
          <p:nvPr/>
        </p:nvSpPr>
        <p:spPr>
          <a:xfrm>
            <a:off x="7772400" y="324612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3F3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time = Fixed-product need</a:t>
            </a:r>
          </a:p>
        </p:txBody>
      </p:sp>
      <p:sp>
        <p:nvSpPr>
          <p:cNvPr id="33" name="Text 11">
            <a:extLst>
              <a:ext uri="{FF2B5EF4-FFF2-40B4-BE49-F238E27FC236}">
                <a16:creationId xmlns:a16="http://schemas.microsoft.com/office/drawing/2014/main" id="{88CA8B5E-28B6-2651-1D8E-457BB0042735}"/>
              </a:ext>
            </a:extLst>
          </p:cNvPr>
          <p:cNvSpPr/>
          <p:nvPr/>
        </p:nvSpPr>
        <p:spPr>
          <a:xfrm>
            <a:off x="7772400" y="3538728"/>
            <a:ext cx="37673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Home-centric profiles concentrate streaming (Netflix, Disney, YouTube) consumption</a:t>
            </a: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natural targets for high-speed internet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Premium TV and OTT bundles. High-mobility users under-index on fixed-product need.</a:t>
            </a:r>
            <a:endParaRPr lang="en-US" sz="1200" dirty="0"/>
          </a:p>
        </p:txBody>
      </p:sp>
      <p:sp>
        <p:nvSpPr>
          <p:cNvPr id="35" name="Shape 12">
            <a:extLst>
              <a:ext uri="{FF2B5EF4-FFF2-40B4-BE49-F238E27FC236}">
                <a16:creationId xmlns:a16="http://schemas.microsoft.com/office/drawing/2014/main" id="{9C949A19-411C-2039-0341-A7E45C679A24}"/>
              </a:ext>
            </a:extLst>
          </p:cNvPr>
          <p:cNvSpPr/>
          <p:nvPr/>
        </p:nvSpPr>
        <p:spPr>
          <a:xfrm>
            <a:off x="7059168" y="4754880"/>
            <a:ext cx="448056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7" name="Shape 13">
            <a:extLst>
              <a:ext uri="{FF2B5EF4-FFF2-40B4-BE49-F238E27FC236}">
                <a16:creationId xmlns:a16="http://schemas.microsoft.com/office/drawing/2014/main" id="{9F7B0123-433D-F81B-4616-64821F6A975A}"/>
              </a:ext>
            </a:extLst>
          </p:cNvPr>
          <p:cNvSpPr/>
          <p:nvPr/>
        </p:nvSpPr>
        <p:spPr>
          <a:xfrm>
            <a:off x="7242048" y="4919472"/>
            <a:ext cx="384048" cy="384048"/>
          </a:xfrm>
          <a:prstGeom prst="ellipse">
            <a:avLst/>
          </a:prstGeom>
          <a:solidFill>
            <a:srgbClr val="3F3F4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9" name="Image 4" descr="icons/bulb_white.png">
            <a:extLst>
              <a:ext uri="{FF2B5EF4-FFF2-40B4-BE49-F238E27FC236}">
                <a16:creationId xmlns:a16="http://schemas.microsoft.com/office/drawing/2014/main" id="{36C20F27-8EE7-472C-7BF6-723A0FB513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1900" y="5019324"/>
            <a:ext cx="184343" cy="184343"/>
          </a:xfrm>
          <a:prstGeom prst="rect">
            <a:avLst/>
          </a:prstGeom>
        </p:spPr>
      </p:pic>
      <p:sp>
        <p:nvSpPr>
          <p:cNvPr id="41" name="Text 14">
            <a:extLst>
              <a:ext uri="{FF2B5EF4-FFF2-40B4-BE49-F238E27FC236}">
                <a16:creationId xmlns:a16="http://schemas.microsoft.com/office/drawing/2014/main" id="{852C8FB8-045D-E062-6F12-735A1569E1D3}"/>
              </a:ext>
            </a:extLst>
          </p:cNvPr>
          <p:cNvSpPr/>
          <p:nvPr/>
        </p:nvSpPr>
        <p:spPr>
          <a:xfrm>
            <a:off x="7772400" y="488289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sz="1400" b="1" dirty="0">
                <a:solidFill>
                  <a:srgbClr val="3F3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personas emerge</a:t>
            </a:r>
          </a:p>
        </p:txBody>
      </p:sp>
      <p:sp>
        <p:nvSpPr>
          <p:cNvPr id="43" name="Text 15">
            <a:extLst>
              <a:ext uri="{FF2B5EF4-FFF2-40B4-BE49-F238E27FC236}">
                <a16:creationId xmlns:a16="http://schemas.microsoft.com/office/drawing/2014/main" id="{FADEB4CF-78BB-09D1-6EE0-392D4EB6F451}"/>
              </a:ext>
            </a:extLst>
          </p:cNvPr>
          <p:cNvSpPr/>
          <p:nvPr/>
        </p:nvSpPr>
        <p:spPr>
          <a:xfrm>
            <a:off x="7772400" y="5175504"/>
            <a:ext cx="37673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ts val="125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Affluent Home Streamer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(A/B, home-centric, heavy OTT: Premium bundles) </a:t>
            </a:r>
          </a:p>
          <a:p>
            <a:pPr marL="171450" indent="-171450">
              <a:lnSpc>
                <a:spcPts val="125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Commuter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(C/D, home-work: Lean offers) </a:t>
            </a:r>
          </a:p>
          <a:p>
            <a:pPr marL="171450" indent="-171450">
              <a:lnSpc>
                <a:spcPts val="125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Nomad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(high mobility: Hardest fixed-product fit).</a:t>
            </a:r>
            <a:endParaRPr lang="en-US" sz="1200" dirty="0"/>
          </a:p>
        </p:txBody>
      </p:sp>
      <p:sp>
        <p:nvSpPr>
          <p:cNvPr id="45" name="Text 16">
            <a:extLst>
              <a:ext uri="{FF2B5EF4-FFF2-40B4-BE49-F238E27FC236}">
                <a16:creationId xmlns:a16="http://schemas.microsoft.com/office/drawing/2014/main" id="{036B6400-8D1C-D544-7165-DEC1C59694F7}"/>
              </a:ext>
            </a:extLst>
          </p:cNvPr>
          <p:cNvSpPr/>
          <p:nvPr/>
        </p:nvSpPr>
        <p:spPr>
          <a:xfrm>
            <a:off x="8239225" y="6391656"/>
            <a:ext cx="329424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Exploratory Sections 1–2 (univariate + multivariate analysis).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055750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8DCD9-DD90-E88E-9C41-1671BF991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1BAE3137-16AC-AF30-28F6-CD2C7AE482EE}"/>
              </a:ext>
            </a:extLst>
          </p:cNvPr>
          <p:cNvSpPr/>
          <p:nvPr/>
        </p:nvSpPr>
        <p:spPr>
          <a:xfrm>
            <a:off x="1311442" y="254105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4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ASSESSMENT</a:t>
            </a:r>
            <a:endParaRPr lang="en-US" sz="105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DBDD9E65-E21B-45F1-270C-139C141161E0}"/>
              </a:ext>
            </a:extLst>
          </p:cNvPr>
          <p:cNvSpPr/>
          <p:nvPr/>
        </p:nvSpPr>
        <p:spPr>
          <a:xfrm>
            <a:off x="1311442" y="436985"/>
            <a:ext cx="1034715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300" b="1" dirty="0">
                <a:solidFill>
                  <a:srgbClr val="3F3F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field experiments reveal the conversion levers: Customers reward simple, relevant bundles and punish irrelevant add-ons like Voice</a:t>
            </a:r>
            <a:endParaRPr lang="en-US" sz="23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A2181764-FE33-3222-2D18-015DFB77F078}"/>
              </a:ext>
            </a:extLst>
          </p:cNvPr>
          <p:cNvSpPr/>
          <p:nvPr/>
        </p:nvSpPr>
        <p:spPr>
          <a:xfrm>
            <a:off x="1453415" y="1389888"/>
            <a:ext cx="36263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3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outcomes (100K leads, 50K per arm)</a:t>
            </a:r>
            <a:endParaRPr lang="en-US" sz="1400" dirty="0"/>
          </a:p>
        </p:txBody>
      </p:sp>
      <p:graphicFrame>
        <p:nvGraphicFramePr>
          <p:cNvPr id="9" name="Chart 0">
            <a:extLst>
              <a:ext uri="{FF2B5EF4-FFF2-40B4-BE49-F238E27FC236}">
                <a16:creationId xmlns:a16="http://schemas.microsoft.com/office/drawing/2014/main" id="{59B68E3A-6319-B637-EE58-D53CD160A9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47502954"/>
              </p:ext>
            </p:extLst>
          </p:nvPr>
        </p:nvGraphicFramePr>
        <p:xfrm>
          <a:off x="502920" y="1691640"/>
          <a:ext cx="489204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Shape 3">
            <a:extLst>
              <a:ext uri="{FF2B5EF4-FFF2-40B4-BE49-F238E27FC236}">
                <a16:creationId xmlns:a16="http://schemas.microsoft.com/office/drawing/2014/main" id="{727FDF17-0101-0711-0781-29085D57BFA2}"/>
              </a:ext>
            </a:extLst>
          </p:cNvPr>
          <p:cNvSpPr/>
          <p:nvPr/>
        </p:nvSpPr>
        <p:spPr>
          <a:xfrm>
            <a:off x="502920" y="4224528"/>
            <a:ext cx="489204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AC971513-956F-9ADF-62FA-876B207653C8}"/>
              </a:ext>
            </a:extLst>
          </p:cNvPr>
          <p:cNvSpPr/>
          <p:nvPr/>
        </p:nvSpPr>
        <p:spPr>
          <a:xfrm>
            <a:off x="685800" y="4334256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cheap, simple, universally understandable offer more than triples random conversion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(0.73% → 2.50%, margin $13.4K → $31.4K). But it is a ceiling, not a strategy: </a:t>
            </a: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leaves premium demand unserved.</a:t>
            </a:r>
            <a:endParaRPr lang="en-US" sz="1200" b="1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27DA2087-8C6B-E8C6-F1DE-685FDBFF2F65}"/>
              </a:ext>
            </a:extLst>
          </p:cNvPr>
          <p:cNvSpPr/>
          <p:nvPr/>
        </p:nvSpPr>
        <p:spPr>
          <a:xfrm>
            <a:off x="6477802" y="1389888"/>
            <a:ext cx="44027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3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rate when component is offered (random arm)</a:t>
            </a:r>
            <a:endParaRPr lang="en-US" sz="1400" dirty="0"/>
          </a:p>
        </p:txBody>
      </p:sp>
      <p:pic>
        <p:nvPicPr>
          <p:cNvPr id="17" name="Image 0" descr="nb_images/img_07.png">
            <a:extLst>
              <a:ext uri="{FF2B5EF4-FFF2-40B4-BE49-F238E27FC236}">
                <a16:creationId xmlns:a16="http://schemas.microsoft.com/office/drawing/2014/main" id="{7FB0195E-79B6-A963-3DED-E99B3D236F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7940" y="1691640"/>
            <a:ext cx="4572000" cy="2523744"/>
          </a:xfrm>
          <a:prstGeom prst="rect">
            <a:avLst/>
          </a:prstGeom>
        </p:spPr>
      </p:pic>
      <p:sp>
        <p:nvSpPr>
          <p:cNvPr id="19" name="Shape 6">
            <a:extLst>
              <a:ext uri="{FF2B5EF4-FFF2-40B4-BE49-F238E27FC236}">
                <a16:creationId xmlns:a16="http://schemas.microsoft.com/office/drawing/2014/main" id="{7347D115-5244-75FA-AC52-A130F5A6D6CC}"/>
              </a:ext>
            </a:extLst>
          </p:cNvPr>
          <p:cNvSpPr/>
          <p:nvPr/>
        </p:nvSpPr>
        <p:spPr>
          <a:xfrm>
            <a:off x="5806440" y="4224528"/>
            <a:ext cx="576072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98E7E7D5-FE60-5A30-AA9B-C17942661F73}"/>
              </a:ext>
            </a:extLst>
          </p:cNvPr>
          <p:cNvSpPr/>
          <p:nvPr/>
        </p:nvSpPr>
        <p:spPr>
          <a:xfrm>
            <a:off x="5897880" y="4334256"/>
            <a:ext cx="5532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components out-convert cheap ones even at higher prices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relevance beats price (Premium TV 0.78% ≈ High Speed 0.76% &gt; Basic TV 0.45%). </a:t>
            </a: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is a conversion killer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(0.21%; logit −1.31 log-odds, p&lt;0.001): bundling it "for value" actively destroys calls.</a:t>
            </a:r>
            <a:endParaRPr lang="en-US" sz="1200" dirty="0"/>
          </a:p>
        </p:txBody>
      </p:sp>
      <p:sp>
        <p:nvSpPr>
          <p:cNvPr id="23" name="Shape 8">
            <a:extLst>
              <a:ext uri="{FF2B5EF4-FFF2-40B4-BE49-F238E27FC236}">
                <a16:creationId xmlns:a16="http://schemas.microsoft.com/office/drawing/2014/main" id="{748C3DDB-EBAC-9B26-E186-9B6F5165B339}"/>
              </a:ext>
            </a:extLst>
          </p:cNvPr>
          <p:cNvSpPr/>
          <p:nvPr/>
        </p:nvSpPr>
        <p:spPr>
          <a:xfrm>
            <a:off x="502920" y="5468112"/>
            <a:ext cx="11064240" cy="1024128"/>
          </a:xfrm>
          <a:prstGeom prst="roundRect">
            <a:avLst>
              <a:gd name="adj" fmla="val 6250"/>
            </a:avLst>
          </a:prstGeom>
          <a:solidFill>
            <a:srgbClr val="3F3F4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Shape 9">
            <a:extLst>
              <a:ext uri="{FF2B5EF4-FFF2-40B4-BE49-F238E27FC236}">
                <a16:creationId xmlns:a16="http://schemas.microsoft.com/office/drawing/2014/main" id="{B929E9C6-4F80-EC72-E402-B3A7BA62F97D}"/>
              </a:ext>
            </a:extLst>
          </p:cNvPr>
          <p:cNvSpPr/>
          <p:nvPr/>
        </p:nvSpPr>
        <p:spPr>
          <a:xfrm>
            <a:off x="749808" y="5641848"/>
            <a:ext cx="566928" cy="566928"/>
          </a:xfrm>
          <a:prstGeom prst="ellipse">
            <a:avLst/>
          </a:prstGeom>
          <a:solidFill>
            <a:srgbClr val="E9E7E2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7" name="Image 1" descr="icons/users_navy.png">
            <a:extLst>
              <a:ext uri="{FF2B5EF4-FFF2-40B4-BE49-F238E27FC236}">
                <a16:creationId xmlns:a16="http://schemas.microsoft.com/office/drawing/2014/main" id="{31F7554F-328C-4CBB-0E11-41EB025B31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209" y="5834969"/>
            <a:ext cx="272125" cy="272125"/>
          </a:xfrm>
          <a:prstGeom prst="rect">
            <a:avLst/>
          </a:prstGeom>
        </p:spPr>
      </p:pic>
      <p:sp>
        <p:nvSpPr>
          <p:cNvPr id="29" name="Text 10">
            <a:extLst>
              <a:ext uri="{FF2B5EF4-FFF2-40B4-BE49-F238E27FC236}">
                <a16:creationId xmlns:a16="http://schemas.microsoft.com/office/drawing/2014/main" id="{9C26644A-5BC6-97BA-98F8-06C51873AA5B}"/>
              </a:ext>
            </a:extLst>
          </p:cNvPr>
          <p:cNvSpPr/>
          <p:nvPr/>
        </p:nvSpPr>
        <p:spPr>
          <a:xfrm>
            <a:off x="1508760" y="5669829"/>
            <a:ext cx="9933432" cy="510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Offer–customer match inference: Two demand families coexist in one base.  </a:t>
            </a:r>
            <a:r>
              <a:rPr lang="en-US" sz="1200" dirty="0">
                <a:solidFill>
                  <a:srgbClr val="E9E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Winning random bundles split into lean &amp; cheap (Low Speed alone: 6.3% conv.) and rich &amp; premium (High Speed + Premium TV + Disney + WiFi: 3.9% conv., top margin per customer at $1.99). One fixed offer cannot serve both, personalization can.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32712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8B21C-85C3-49B6-3EC7-E645C3398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8F055079-A0A4-9B73-44B9-5D2524368EA9}"/>
              </a:ext>
            </a:extLst>
          </p:cNvPr>
          <p:cNvSpPr/>
          <p:nvPr/>
        </p:nvSpPr>
        <p:spPr>
          <a:xfrm>
            <a:off x="1311444" y="244481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4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ELASTICITY</a:t>
            </a:r>
            <a:endParaRPr lang="en-US" sz="105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341B9F4E-9327-E919-D266-1E81DAFBF2D7}"/>
              </a:ext>
            </a:extLst>
          </p:cNvPr>
          <p:cNvSpPr/>
          <p:nvPr/>
        </p:nvSpPr>
        <p:spPr>
          <a:xfrm>
            <a:off x="1311444" y="427361"/>
            <a:ext cx="101714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300" b="1" dirty="0">
                <a:solidFill>
                  <a:srgbClr val="3F3F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is elastic: Each extra dollar cuts conversion odds by 5.6%, but elasticity differs by profile. Price cuts only pay off in value segments</a:t>
            </a:r>
            <a:endParaRPr lang="en-US" sz="23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A3ACF6F2-D6EC-A267-B06F-0038836B3FD1}"/>
              </a:ext>
            </a:extLst>
          </p:cNvPr>
          <p:cNvSpPr/>
          <p:nvPr/>
        </p:nvSpPr>
        <p:spPr>
          <a:xfrm>
            <a:off x="736333" y="1417320"/>
            <a:ext cx="5339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3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demand curve: Logit prediction, product mix held at average</a:t>
            </a:r>
            <a:endParaRPr lang="en-US" sz="1400" dirty="0"/>
          </a:p>
        </p:txBody>
      </p:sp>
      <p:pic>
        <p:nvPicPr>
          <p:cNvPr id="9" name="Image 0" descr="nb_images/img_08.png">
            <a:extLst>
              <a:ext uri="{FF2B5EF4-FFF2-40B4-BE49-F238E27FC236}">
                <a16:creationId xmlns:a16="http://schemas.microsoft.com/office/drawing/2014/main" id="{2381FF93-8294-A5E6-2C19-0A851C4C1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37360"/>
            <a:ext cx="5806440" cy="3200400"/>
          </a:xfrm>
          <a:prstGeom prst="rect">
            <a:avLst/>
          </a:prstGeom>
        </p:spPr>
      </p:pic>
      <p:sp>
        <p:nvSpPr>
          <p:cNvPr id="11" name="Shape 3">
            <a:extLst>
              <a:ext uri="{FF2B5EF4-FFF2-40B4-BE49-F238E27FC236}">
                <a16:creationId xmlns:a16="http://schemas.microsoft.com/office/drawing/2014/main" id="{0607A16A-C85D-FA4B-830D-5689C6C3B661}"/>
              </a:ext>
            </a:extLst>
          </p:cNvPr>
          <p:cNvSpPr/>
          <p:nvPr/>
        </p:nvSpPr>
        <p:spPr>
          <a:xfrm>
            <a:off x="502920" y="5138928"/>
            <a:ext cx="580644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57AF6988-6AB8-B82F-0D81-036110CEEF1F}"/>
              </a:ext>
            </a:extLst>
          </p:cNvPr>
          <p:cNvSpPr/>
          <p:nvPr/>
        </p:nvSpPr>
        <p:spPr>
          <a:xfrm>
            <a:off x="685800" y="5266944"/>
            <a:ext cx="54406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200" b="1" dirty="0">
                <a:solidFill>
                  <a:srgbClr val="3F3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Logit(converted) ~ total_price + product-mix flags, fitted on the 50K random-offer arm. Price coefficient −0.0580 log-odds per $1 (odds ratio 0.9437, p = 0.028). The randomized arm gives price variation the fixed offer cannot.</a:t>
            </a:r>
            <a:endParaRPr lang="en-US" sz="1200" dirty="0"/>
          </a:p>
        </p:txBody>
      </p:sp>
      <p:grpSp>
        <p:nvGrpSpPr>
          <p:cNvPr id="39" name="Grupo 38">
            <a:extLst>
              <a:ext uri="{FF2B5EF4-FFF2-40B4-BE49-F238E27FC236}">
                <a16:creationId xmlns:a16="http://schemas.microsoft.com/office/drawing/2014/main" id="{D8B48F06-EB3F-AC12-C57D-9212BFF5BF0F}"/>
              </a:ext>
            </a:extLst>
          </p:cNvPr>
          <p:cNvGrpSpPr/>
          <p:nvPr/>
        </p:nvGrpSpPr>
        <p:grpSpPr>
          <a:xfrm>
            <a:off x="6629400" y="1732547"/>
            <a:ext cx="384048" cy="384048"/>
            <a:chOff x="6629400" y="1527048"/>
            <a:chExt cx="384048" cy="384048"/>
          </a:xfrm>
        </p:grpSpPr>
        <p:sp>
          <p:nvSpPr>
            <p:cNvPr id="15" name="Shape 5">
              <a:extLst>
                <a:ext uri="{FF2B5EF4-FFF2-40B4-BE49-F238E27FC236}">
                  <a16:creationId xmlns:a16="http://schemas.microsoft.com/office/drawing/2014/main" id="{6AC7F7A0-1F71-9BAE-98C3-AED4F281BECD}"/>
                </a:ext>
              </a:extLst>
            </p:cNvPr>
            <p:cNvSpPr/>
            <p:nvPr/>
          </p:nvSpPr>
          <p:spPr>
            <a:xfrm>
              <a:off x="6629400" y="1527048"/>
              <a:ext cx="384048" cy="384048"/>
            </a:xfrm>
            <a:prstGeom prst="ellipse">
              <a:avLst/>
            </a:prstGeom>
            <a:solidFill>
              <a:srgbClr val="D9481F"/>
            </a:solidFill>
            <a:ln/>
          </p:spPr>
          <p:txBody>
            <a:bodyPr/>
            <a:lstStyle/>
            <a:p>
              <a:endParaRPr lang="es-CO"/>
            </a:p>
          </p:txBody>
        </p:sp>
        <p:sp>
          <p:nvSpPr>
            <p:cNvPr id="17" name="Text 6">
              <a:extLst>
                <a:ext uri="{FF2B5EF4-FFF2-40B4-BE49-F238E27FC236}">
                  <a16:creationId xmlns:a16="http://schemas.microsoft.com/office/drawing/2014/main" id="{0455690D-7B90-A81C-FD65-A7879266A405}"/>
                </a:ext>
              </a:extLst>
            </p:cNvPr>
            <p:cNvSpPr/>
            <p:nvPr/>
          </p:nvSpPr>
          <p:spPr>
            <a:xfrm>
              <a:off x="6629400" y="1527048"/>
              <a:ext cx="38404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1</a:t>
              </a:r>
              <a:endParaRPr lang="en-US" sz="1500" dirty="0"/>
            </a:p>
          </p:txBody>
        </p:sp>
      </p:grpSp>
      <p:grpSp>
        <p:nvGrpSpPr>
          <p:cNvPr id="38" name="Grupo 37">
            <a:extLst>
              <a:ext uri="{FF2B5EF4-FFF2-40B4-BE49-F238E27FC236}">
                <a16:creationId xmlns:a16="http://schemas.microsoft.com/office/drawing/2014/main" id="{526690D1-A844-8D00-2501-E955AA4A7E80}"/>
              </a:ext>
            </a:extLst>
          </p:cNvPr>
          <p:cNvGrpSpPr/>
          <p:nvPr/>
        </p:nvGrpSpPr>
        <p:grpSpPr>
          <a:xfrm>
            <a:off x="7178040" y="1481328"/>
            <a:ext cx="4526280" cy="886487"/>
            <a:chOff x="7178040" y="1481328"/>
            <a:chExt cx="4526280" cy="886487"/>
          </a:xfrm>
        </p:grpSpPr>
        <p:sp>
          <p:nvSpPr>
            <p:cNvPr id="19" name="Text 7">
              <a:extLst>
                <a:ext uri="{FF2B5EF4-FFF2-40B4-BE49-F238E27FC236}">
                  <a16:creationId xmlns:a16="http://schemas.microsoft.com/office/drawing/2014/main" id="{4791ECAD-26D7-F5EC-46C4-CA68D522B659}"/>
                </a:ext>
              </a:extLst>
            </p:cNvPr>
            <p:cNvSpPr/>
            <p:nvPr/>
          </p:nvSpPr>
          <p:spPr>
            <a:xfrm>
              <a:off x="7178040" y="1481328"/>
              <a:ext cx="45262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b="1" dirty="0">
                  <a:solidFill>
                    <a:srgbClr val="3F3F4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Magnitude: Demand slopes down</a:t>
              </a:r>
              <a:endParaRPr lang="en-US" sz="1250" dirty="0"/>
            </a:p>
          </p:txBody>
        </p:sp>
        <p:sp>
          <p:nvSpPr>
            <p:cNvPr id="21" name="Text 8">
              <a:extLst>
                <a:ext uri="{FF2B5EF4-FFF2-40B4-BE49-F238E27FC236}">
                  <a16:creationId xmlns:a16="http://schemas.microsoft.com/office/drawing/2014/main" id="{F2E2668F-F50F-430B-BBE2-D06E83033285}"/>
                </a:ext>
              </a:extLst>
            </p:cNvPr>
            <p:cNvSpPr/>
            <p:nvPr/>
          </p:nvSpPr>
          <p:spPr>
            <a:xfrm>
              <a:off x="7178040" y="1792224"/>
              <a:ext cx="4480560" cy="5755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1300"/>
                </a:lnSpc>
                <a:buNone/>
              </a:pPr>
              <a:r>
                <a:rPr lang="en-US" sz="12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Each extra dollar charged multiplies conversion odds by 0.9437 (−5.6% per $), holding product mix fixed. Statistically significant and consistent with standard demand theory.</a:t>
              </a:r>
              <a:endParaRPr lang="en-US" sz="1200" dirty="0"/>
            </a:p>
          </p:txBody>
        </p:sp>
      </p:grpSp>
      <p:grpSp>
        <p:nvGrpSpPr>
          <p:cNvPr id="40" name="Grupo 39">
            <a:extLst>
              <a:ext uri="{FF2B5EF4-FFF2-40B4-BE49-F238E27FC236}">
                <a16:creationId xmlns:a16="http://schemas.microsoft.com/office/drawing/2014/main" id="{86ACDD81-ABF4-1244-04CA-530B49579207}"/>
              </a:ext>
            </a:extLst>
          </p:cNvPr>
          <p:cNvGrpSpPr/>
          <p:nvPr/>
        </p:nvGrpSpPr>
        <p:grpSpPr>
          <a:xfrm>
            <a:off x="6629400" y="3450175"/>
            <a:ext cx="384048" cy="384048"/>
            <a:chOff x="6629400" y="3191256"/>
            <a:chExt cx="384048" cy="384048"/>
          </a:xfrm>
        </p:grpSpPr>
        <p:sp>
          <p:nvSpPr>
            <p:cNvPr id="23" name="Shape 9">
              <a:extLst>
                <a:ext uri="{FF2B5EF4-FFF2-40B4-BE49-F238E27FC236}">
                  <a16:creationId xmlns:a16="http://schemas.microsoft.com/office/drawing/2014/main" id="{BECA4E25-497A-4D81-5F06-AF68A3DA10BB}"/>
                </a:ext>
              </a:extLst>
            </p:cNvPr>
            <p:cNvSpPr/>
            <p:nvPr/>
          </p:nvSpPr>
          <p:spPr>
            <a:xfrm>
              <a:off x="6629400" y="3191256"/>
              <a:ext cx="384048" cy="384048"/>
            </a:xfrm>
            <a:prstGeom prst="ellipse">
              <a:avLst/>
            </a:prstGeom>
            <a:solidFill>
              <a:srgbClr val="D9481F"/>
            </a:solidFill>
            <a:ln/>
          </p:spPr>
          <p:txBody>
            <a:bodyPr/>
            <a:lstStyle/>
            <a:p>
              <a:endParaRPr lang="es-CO"/>
            </a:p>
          </p:txBody>
        </p:sp>
        <p:sp>
          <p:nvSpPr>
            <p:cNvPr id="25" name="Text 10">
              <a:extLst>
                <a:ext uri="{FF2B5EF4-FFF2-40B4-BE49-F238E27FC236}">
                  <a16:creationId xmlns:a16="http://schemas.microsoft.com/office/drawing/2014/main" id="{89E2B9BB-91D0-4686-8782-958AC2A2B613}"/>
                </a:ext>
              </a:extLst>
            </p:cNvPr>
            <p:cNvSpPr/>
            <p:nvPr/>
          </p:nvSpPr>
          <p:spPr>
            <a:xfrm>
              <a:off x="6629400" y="3191256"/>
              <a:ext cx="38404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2</a:t>
              </a:r>
              <a:endParaRPr lang="en-US" sz="1500" dirty="0"/>
            </a:p>
          </p:txBody>
        </p:sp>
      </p:grpSp>
      <p:grpSp>
        <p:nvGrpSpPr>
          <p:cNvPr id="41" name="Grupo 40">
            <a:extLst>
              <a:ext uri="{FF2B5EF4-FFF2-40B4-BE49-F238E27FC236}">
                <a16:creationId xmlns:a16="http://schemas.microsoft.com/office/drawing/2014/main" id="{E4BBAF0A-762F-8907-CA03-E516F14A6043}"/>
              </a:ext>
            </a:extLst>
          </p:cNvPr>
          <p:cNvGrpSpPr/>
          <p:nvPr/>
        </p:nvGrpSpPr>
        <p:grpSpPr>
          <a:xfrm>
            <a:off x="7178040" y="3145536"/>
            <a:ext cx="4526280" cy="993327"/>
            <a:chOff x="7178040" y="3145536"/>
            <a:chExt cx="4526280" cy="993327"/>
          </a:xfrm>
        </p:grpSpPr>
        <p:sp>
          <p:nvSpPr>
            <p:cNvPr id="27" name="Text 11">
              <a:extLst>
                <a:ext uri="{FF2B5EF4-FFF2-40B4-BE49-F238E27FC236}">
                  <a16:creationId xmlns:a16="http://schemas.microsoft.com/office/drawing/2014/main" id="{6E9E4411-1791-355B-258F-4105F081F63E}"/>
                </a:ext>
              </a:extLst>
            </p:cNvPr>
            <p:cNvSpPr/>
            <p:nvPr/>
          </p:nvSpPr>
          <p:spPr>
            <a:xfrm>
              <a:off x="7178040" y="3145536"/>
              <a:ext cx="45262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b="1" dirty="0">
                  <a:solidFill>
                    <a:srgbClr val="3F3F4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Field confirmation: With an honest caveat</a:t>
              </a:r>
              <a:endParaRPr lang="en-US" sz="1250" dirty="0"/>
            </a:p>
          </p:txBody>
        </p:sp>
        <p:sp>
          <p:nvSpPr>
            <p:cNvPr id="29" name="Text 12">
              <a:extLst>
                <a:ext uri="{FF2B5EF4-FFF2-40B4-BE49-F238E27FC236}">
                  <a16:creationId xmlns:a16="http://schemas.microsoft.com/office/drawing/2014/main" id="{C7FE1567-B4DD-B429-BFA8-C1AF085998A0}"/>
                </a:ext>
              </a:extLst>
            </p:cNvPr>
            <p:cNvSpPr/>
            <p:nvPr/>
          </p:nvSpPr>
          <p:spPr>
            <a:xfrm>
              <a:off x="7178040" y="3456432"/>
              <a:ext cx="4480560" cy="6824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1300"/>
                </a:lnSpc>
                <a:buNone/>
              </a:pPr>
              <a:r>
                <a:rPr lang="en-US" sz="12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Random mix ($59.52 avg) → low-cost offer ($37.00): +1.77 pp conversion for a $22.52 price cut (3.41× baseline). Caveat: the low-cost offer also strips add-ons, so part of the lift is mix simplification, not pure price.</a:t>
              </a:r>
              <a:endParaRPr lang="en-US" sz="1200" dirty="0"/>
            </a:p>
          </p:txBody>
        </p:sp>
      </p:grpSp>
      <p:grpSp>
        <p:nvGrpSpPr>
          <p:cNvPr id="42" name="Grupo 41">
            <a:extLst>
              <a:ext uri="{FF2B5EF4-FFF2-40B4-BE49-F238E27FC236}">
                <a16:creationId xmlns:a16="http://schemas.microsoft.com/office/drawing/2014/main" id="{4E47EC0E-1BD0-2797-165F-947AD899180E}"/>
              </a:ext>
            </a:extLst>
          </p:cNvPr>
          <p:cNvGrpSpPr/>
          <p:nvPr/>
        </p:nvGrpSpPr>
        <p:grpSpPr>
          <a:xfrm>
            <a:off x="6629400" y="5099464"/>
            <a:ext cx="384048" cy="384048"/>
            <a:chOff x="6629400" y="4855464"/>
            <a:chExt cx="384048" cy="384048"/>
          </a:xfrm>
        </p:grpSpPr>
        <p:sp>
          <p:nvSpPr>
            <p:cNvPr id="31" name="Shape 13">
              <a:extLst>
                <a:ext uri="{FF2B5EF4-FFF2-40B4-BE49-F238E27FC236}">
                  <a16:creationId xmlns:a16="http://schemas.microsoft.com/office/drawing/2014/main" id="{BB63375B-A50B-4E6F-CA94-E69B3E992558}"/>
                </a:ext>
              </a:extLst>
            </p:cNvPr>
            <p:cNvSpPr/>
            <p:nvPr/>
          </p:nvSpPr>
          <p:spPr>
            <a:xfrm>
              <a:off x="6629400" y="4855464"/>
              <a:ext cx="384048" cy="384048"/>
            </a:xfrm>
            <a:prstGeom prst="ellipse">
              <a:avLst/>
            </a:prstGeom>
            <a:solidFill>
              <a:srgbClr val="D9481F"/>
            </a:solidFill>
            <a:ln/>
          </p:spPr>
          <p:txBody>
            <a:bodyPr/>
            <a:lstStyle/>
            <a:p>
              <a:endParaRPr lang="es-CO"/>
            </a:p>
          </p:txBody>
        </p:sp>
        <p:sp>
          <p:nvSpPr>
            <p:cNvPr id="33" name="Text 14">
              <a:extLst>
                <a:ext uri="{FF2B5EF4-FFF2-40B4-BE49-F238E27FC236}">
                  <a16:creationId xmlns:a16="http://schemas.microsoft.com/office/drawing/2014/main" id="{282EFBF9-ED65-01FB-6DDB-4ADD6AE605D7}"/>
                </a:ext>
              </a:extLst>
            </p:cNvPr>
            <p:cNvSpPr/>
            <p:nvPr/>
          </p:nvSpPr>
          <p:spPr>
            <a:xfrm>
              <a:off x="6629400" y="4855464"/>
              <a:ext cx="38404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3</a:t>
              </a:r>
              <a:endParaRPr lang="en-US" sz="1500" dirty="0"/>
            </a:p>
          </p:txBody>
        </p:sp>
      </p:grpSp>
      <p:grpSp>
        <p:nvGrpSpPr>
          <p:cNvPr id="43" name="Grupo 42">
            <a:extLst>
              <a:ext uri="{FF2B5EF4-FFF2-40B4-BE49-F238E27FC236}">
                <a16:creationId xmlns:a16="http://schemas.microsoft.com/office/drawing/2014/main" id="{36AA42A2-47AA-F24E-7C72-8BC59E126F9C}"/>
              </a:ext>
            </a:extLst>
          </p:cNvPr>
          <p:cNvGrpSpPr/>
          <p:nvPr/>
        </p:nvGrpSpPr>
        <p:grpSpPr>
          <a:xfrm>
            <a:off x="7178040" y="4809744"/>
            <a:ext cx="4526280" cy="963489"/>
            <a:chOff x="7178040" y="4809744"/>
            <a:chExt cx="4526280" cy="963489"/>
          </a:xfrm>
        </p:grpSpPr>
        <p:sp>
          <p:nvSpPr>
            <p:cNvPr id="35" name="Text 15">
              <a:extLst>
                <a:ext uri="{FF2B5EF4-FFF2-40B4-BE49-F238E27FC236}">
                  <a16:creationId xmlns:a16="http://schemas.microsoft.com/office/drawing/2014/main" id="{16EEF878-F2B8-D389-D3DA-400D29F0F345}"/>
                </a:ext>
              </a:extLst>
            </p:cNvPr>
            <p:cNvSpPr/>
            <p:nvPr/>
          </p:nvSpPr>
          <p:spPr>
            <a:xfrm>
              <a:off x="7178040" y="4809744"/>
              <a:ext cx="45262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b="1" dirty="0">
                  <a:solidFill>
                    <a:srgbClr val="3F3F4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Heterogeneity: Why one price does not fit all</a:t>
              </a:r>
              <a:endParaRPr lang="en-US" sz="1250" dirty="0"/>
            </a:p>
          </p:txBody>
        </p:sp>
        <p:sp>
          <p:nvSpPr>
            <p:cNvPr id="37" name="Text 16">
              <a:extLst>
                <a:ext uri="{FF2B5EF4-FFF2-40B4-BE49-F238E27FC236}">
                  <a16:creationId xmlns:a16="http://schemas.microsoft.com/office/drawing/2014/main" id="{015C0D95-D8DF-F52E-F2B0-B92DB3FA2511}"/>
                </a:ext>
              </a:extLst>
            </p:cNvPr>
            <p:cNvSpPr/>
            <p:nvPr/>
          </p:nvSpPr>
          <p:spPr>
            <a:xfrm>
              <a:off x="7178040" y="5120640"/>
              <a:ext cx="4480560" cy="652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ts val="1300"/>
                </a:lnSpc>
                <a:buNone/>
              </a:pPr>
              <a:r>
                <a:rPr lang="en-US" sz="12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Holding price constant, High Speed adds +0.82 log-odds (p=0.023) and Premium TV +1.13 (p=0.07): Premium features carry positive utility that offsets price for the right customers. Elasticity is profile-dependent, the case for personalized bundles over blanket discounts.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128047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087ED-A4C4-15DF-CB33-B322F2AA8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69E52D46-D023-C563-4111-9095070E0F47}"/>
              </a:ext>
            </a:extLst>
          </p:cNvPr>
          <p:cNvSpPr/>
          <p:nvPr/>
        </p:nvSpPr>
        <p:spPr>
          <a:xfrm>
            <a:off x="1321068" y="2541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4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 &amp; PARAMETER JUSTIFICATION</a:t>
            </a:r>
            <a:endParaRPr lang="en-US" sz="105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0D065AA2-19FE-C331-334F-FBF5F1102D28}"/>
              </a:ext>
            </a:extLst>
          </p:cNvPr>
          <p:cNvSpPr/>
          <p:nvPr/>
        </p:nvSpPr>
        <p:spPr>
          <a:xfrm>
            <a:off x="1321068" y="436988"/>
            <a:ext cx="103009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300" b="1" dirty="0">
                <a:solidFill>
                  <a:srgbClr val="3F3F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contextual bandit: epsilon-greedy exploration over 96 valid bundles, scored by an interpretable logistic model, learns the policy in 10 waves</a:t>
            </a:r>
            <a:endParaRPr lang="en-US" sz="2300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1013863A-22DE-00BE-8B48-D25A277A5A03}"/>
              </a:ext>
            </a:extLst>
          </p:cNvPr>
          <p:cNvSpPr/>
          <p:nvPr/>
        </p:nvSpPr>
        <p:spPr>
          <a:xfrm>
            <a:off x="502920" y="1463040"/>
            <a:ext cx="2084832" cy="1225296"/>
          </a:xfrm>
          <a:prstGeom prst="roundRect">
            <a:avLst>
              <a:gd name="adj" fmla="val 5224"/>
            </a:avLst>
          </a:prstGeom>
          <a:solidFill>
            <a:srgbClr val="F5F4F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FDA8A353-4285-27F4-8E73-49789D3FCEC1}"/>
              </a:ext>
            </a:extLst>
          </p:cNvPr>
          <p:cNvSpPr/>
          <p:nvPr/>
        </p:nvSpPr>
        <p:spPr>
          <a:xfrm>
            <a:off x="621792" y="1554480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3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Context</a:t>
            </a:r>
            <a:endParaRPr lang="en-US" sz="1100" dirty="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42A82002-6C57-35F1-0A6C-3F85F90DE56E}"/>
              </a:ext>
            </a:extLst>
          </p:cNvPr>
          <p:cNvSpPr/>
          <p:nvPr/>
        </p:nvSpPr>
        <p:spPr>
          <a:xfrm>
            <a:off x="621792" y="1819656"/>
            <a:ext cx="1847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50"/>
              </a:lnSpc>
              <a:buNone/>
            </a:pPr>
            <a:r>
              <a:rPr lang="en-US" sz="8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categorical features one-hot + 9 numeric usage features standardized</a:t>
            </a:r>
            <a:endParaRPr lang="en-US" sz="880" dirty="0"/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BD4C0687-9943-BAC7-14B3-6139DD77EE97}"/>
              </a:ext>
            </a:extLst>
          </p:cNvPr>
          <p:cNvSpPr/>
          <p:nvPr/>
        </p:nvSpPr>
        <p:spPr>
          <a:xfrm>
            <a:off x="2574036" y="1975104"/>
            <a:ext cx="201168" cy="201168"/>
          </a:xfrm>
          <a:prstGeom prst="rightArrow">
            <a:avLst/>
          </a:prstGeom>
          <a:solidFill>
            <a:srgbClr val="6B6C6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23C3E9D6-4480-BB37-6024-D66D61DB94EA}"/>
              </a:ext>
            </a:extLst>
          </p:cNvPr>
          <p:cNvSpPr/>
          <p:nvPr/>
        </p:nvSpPr>
        <p:spPr>
          <a:xfrm>
            <a:off x="2761488" y="1463040"/>
            <a:ext cx="2084832" cy="1225296"/>
          </a:xfrm>
          <a:prstGeom prst="roundRect">
            <a:avLst>
              <a:gd name="adj" fmla="val 5224"/>
            </a:avLst>
          </a:prstGeom>
          <a:solidFill>
            <a:srgbClr val="F5F4F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2AD80EE2-B406-0D4B-BB69-DCEF5633FE3F}"/>
              </a:ext>
            </a:extLst>
          </p:cNvPr>
          <p:cNvSpPr/>
          <p:nvPr/>
        </p:nvSpPr>
        <p:spPr>
          <a:xfrm>
            <a:off x="2880360" y="1554480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3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Action space</a:t>
            </a:r>
            <a:endParaRPr lang="en-US" sz="1100" dirty="0"/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8DB8C579-5845-E625-BF09-D3A1F0C556CA}"/>
              </a:ext>
            </a:extLst>
          </p:cNvPr>
          <p:cNvSpPr/>
          <p:nvPr/>
        </p:nvSpPr>
        <p:spPr>
          <a:xfrm>
            <a:off x="2880360" y="1819656"/>
            <a:ext cx="1847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50"/>
              </a:lnSpc>
              <a:buNone/>
            </a:pPr>
            <a:r>
              <a:rPr lang="en-US" sz="8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 valid bundles by construction: internet 2 × TV 3 × add-ons 16; invalid offers impossible</a:t>
            </a:r>
            <a:endParaRPr lang="en-US" sz="880" dirty="0"/>
          </a:p>
        </p:txBody>
      </p:sp>
      <p:sp>
        <p:nvSpPr>
          <p:cNvPr id="21" name="Shape 9">
            <a:extLst>
              <a:ext uri="{FF2B5EF4-FFF2-40B4-BE49-F238E27FC236}">
                <a16:creationId xmlns:a16="http://schemas.microsoft.com/office/drawing/2014/main" id="{37FBE037-CD6B-F7E8-59C0-FAC916D4E368}"/>
              </a:ext>
            </a:extLst>
          </p:cNvPr>
          <p:cNvSpPr/>
          <p:nvPr/>
        </p:nvSpPr>
        <p:spPr>
          <a:xfrm>
            <a:off x="4832604" y="1975104"/>
            <a:ext cx="201168" cy="201168"/>
          </a:xfrm>
          <a:prstGeom prst="rightArrow">
            <a:avLst/>
          </a:prstGeom>
          <a:solidFill>
            <a:srgbClr val="6B6C6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Shape 10">
            <a:extLst>
              <a:ext uri="{FF2B5EF4-FFF2-40B4-BE49-F238E27FC236}">
                <a16:creationId xmlns:a16="http://schemas.microsoft.com/office/drawing/2014/main" id="{7195D6B1-BFB6-7A9E-9BC4-AA3BE87D1737}"/>
              </a:ext>
            </a:extLst>
          </p:cNvPr>
          <p:cNvSpPr/>
          <p:nvPr/>
        </p:nvSpPr>
        <p:spPr>
          <a:xfrm>
            <a:off x="5020056" y="1463040"/>
            <a:ext cx="2084832" cy="1225296"/>
          </a:xfrm>
          <a:prstGeom prst="roundRect">
            <a:avLst>
              <a:gd name="adj" fmla="val 522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FCE01805-D5B5-7319-4C5F-462597621243}"/>
              </a:ext>
            </a:extLst>
          </p:cNvPr>
          <p:cNvSpPr/>
          <p:nvPr/>
        </p:nvSpPr>
        <p:spPr>
          <a:xfrm>
            <a:off x="5138928" y="1554480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3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Policy</a:t>
            </a:r>
            <a:endParaRPr lang="en-US" sz="1100" dirty="0"/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3A4F2A29-E149-6FB8-436F-423D530F9229}"/>
              </a:ext>
            </a:extLst>
          </p:cNvPr>
          <p:cNvSpPr/>
          <p:nvPr/>
        </p:nvSpPr>
        <p:spPr>
          <a:xfrm>
            <a:off x="5138928" y="1819656"/>
            <a:ext cx="1847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50"/>
              </a:lnSpc>
              <a:buNone/>
            </a:pPr>
            <a:r>
              <a:rPr lang="en-US" sz="8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ε-greedy: Explore random valid bundle w.p. ε, else exploit model’s best action</a:t>
            </a:r>
            <a:endParaRPr lang="en-US" sz="880" dirty="0"/>
          </a:p>
        </p:txBody>
      </p:sp>
      <p:sp>
        <p:nvSpPr>
          <p:cNvPr id="29" name="Shape 13">
            <a:extLst>
              <a:ext uri="{FF2B5EF4-FFF2-40B4-BE49-F238E27FC236}">
                <a16:creationId xmlns:a16="http://schemas.microsoft.com/office/drawing/2014/main" id="{0AC60201-F1A5-71A1-FD13-EADDBFA43161}"/>
              </a:ext>
            </a:extLst>
          </p:cNvPr>
          <p:cNvSpPr/>
          <p:nvPr/>
        </p:nvSpPr>
        <p:spPr>
          <a:xfrm>
            <a:off x="7091172" y="1975104"/>
            <a:ext cx="201168" cy="201168"/>
          </a:xfrm>
          <a:prstGeom prst="rightArrow">
            <a:avLst/>
          </a:prstGeom>
          <a:solidFill>
            <a:srgbClr val="6B6C6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1" name="Shape 14">
            <a:extLst>
              <a:ext uri="{FF2B5EF4-FFF2-40B4-BE49-F238E27FC236}">
                <a16:creationId xmlns:a16="http://schemas.microsoft.com/office/drawing/2014/main" id="{523B15E1-F8D2-0EA5-20FD-E4C39D940224}"/>
              </a:ext>
            </a:extLst>
          </p:cNvPr>
          <p:cNvSpPr/>
          <p:nvPr/>
        </p:nvSpPr>
        <p:spPr>
          <a:xfrm>
            <a:off x="7278624" y="1463040"/>
            <a:ext cx="2084832" cy="1225296"/>
          </a:xfrm>
          <a:prstGeom prst="roundRect">
            <a:avLst>
              <a:gd name="adj" fmla="val 5224"/>
            </a:avLst>
          </a:prstGeom>
          <a:solidFill>
            <a:srgbClr val="3F3F4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3" name="Text 15">
            <a:extLst>
              <a:ext uri="{FF2B5EF4-FFF2-40B4-BE49-F238E27FC236}">
                <a16:creationId xmlns:a16="http://schemas.microsoft.com/office/drawing/2014/main" id="{5975DD30-19F3-006D-7CE3-553C8B110EBB}"/>
              </a:ext>
            </a:extLst>
          </p:cNvPr>
          <p:cNvSpPr/>
          <p:nvPr/>
        </p:nvSpPr>
        <p:spPr>
          <a:xfrm>
            <a:off x="7397496" y="1554480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7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Reward model</a:t>
            </a:r>
            <a:endParaRPr lang="en-US" sz="1100" dirty="0"/>
          </a:p>
        </p:txBody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C93EC4FC-7FB7-3F4E-351A-98A57FC9F928}"/>
              </a:ext>
            </a:extLst>
          </p:cNvPr>
          <p:cNvSpPr/>
          <p:nvPr/>
        </p:nvSpPr>
        <p:spPr>
          <a:xfrm>
            <a:off x="7397496" y="1819656"/>
            <a:ext cx="1847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50"/>
              </a:lnSpc>
              <a:buNone/>
            </a:pPr>
            <a:r>
              <a:rPr lang="en-US" sz="880" dirty="0">
                <a:solidFill>
                  <a:srgbClr val="E9E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P(convert | customer, offer), pick argmax P × bundle margin</a:t>
            </a:r>
            <a:endParaRPr lang="en-US" sz="880" dirty="0"/>
          </a:p>
        </p:txBody>
      </p:sp>
      <p:sp>
        <p:nvSpPr>
          <p:cNvPr id="37" name="Shape 17">
            <a:extLst>
              <a:ext uri="{FF2B5EF4-FFF2-40B4-BE49-F238E27FC236}">
                <a16:creationId xmlns:a16="http://schemas.microsoft.com/office/drawing/2014/main" id="{022E074A-F516-13A1-2053-541A640D7E2D}"/>
              </a:ext>
            </a:extLst>
          </p:cNvPr>
          <p:cNvSpPr/>
          <p:nvPr/>
        </p:nvSpPr>
        <p:spPr>
          <a:xfrm>
            <a:off x="9349740" y="1975104"/>
            <a:ext cx="201168" cy="201168"/>
          </a:xfrm>
          <a:prstGeom prst="rightArrow">
            <a:avLst/>
          </a:prstGeom>
          <a:solidFill>
            <a:srgbClr val="6B6C6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9" name="Shape 18">
            <a:extLst>
              <a:ext uri="{FF2B5EF4-FFF2-40B4-BE49-F238E27FC236}">
                <a16:creationId xmlns:a16="http://schemas.microsoft.com/office/drawing/2014/main" id="{A5EC14C6-F75A-78FE-0728-1513C5875632}"/>
              </a:ext>
            </a:extLst>
          </p:cNvPr>
          <p:cNvSpPr/>
          <p:nvPr/>
        </p:nvSpPr>
        <p:spPr>
          <a:xfrm>
            <a:off x="9537192" y="1463040"/>
            <a:ext cx="2084832" cy="1225296"/>
          </a:xfrm>
          <a:prstGeom prst="roundRect">
            <a:avLst>
              <a:gd name="adj" fmla="val 522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1" name="Text 19">
            <a:extLst>
              <a:ext uri="{FF2B5EF4-FFF2-40B4-BE49-F238E27FC236}">
                <a16:creationId xmlns:a16="http://schemas.microsoft.com/office/drawing/2014/main" id="{E0D12B93-BC7D-4B0D-D6CC-9568288A7370}"/>
              </a:ext>
            </a:extLst>
          </p:cNvPr>
          <p:cNvSpPr/>
          <p:nvPr/>
        </p:nvSpPr>
        <p:spPr>
          <a:xfrm>
            <a:off x="9656064" y="1554480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3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Learning loop</a:t>
            </a:r>
            <a:endParaRPr lang="en-US" sz="1100" dirty="0"/>
          </a:p>
        </p:txBody>
      </p:sp>
      <p:sp>
        <p:nvSpPr>
          <p:cNvPr id="43" name="Text 20">
            <a:extLst>
              <a:ext uri="{FF2B5EF4-FFF2-40B4-BE49-F238E27FC236}">
                <a16:creationId xmlns:a16="http://schemas.microsoft.com/office/drawing/2014/main" id="{F1160153-087A-6392-8DEF-EC1E806192F7}"/>
              </a:ext>
            </a:extLst>
          </p:cNvPr>
          <p:cNvSpPr/>
          <p:nvPr/>
        </p:nvSpPr>
        <p:spPr>
          <a:xfrm>
            <a:off x="9656064" y="1819656"/>
            <a:ext cx="1847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50"/>
              </a:lnSpc>
              <a:buNone/>
            </a:pPr>
            <a:r>
              <a:rPr lang="en-US" sz="8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biweekly waves × 50K leads, retrain on ALL accumulated (context, action, reward)</a:t>
            </a:r>
            <a:endParaRPr lang="en-US" sz="880" dirty="0"/>
          </a:p>
        </p:txBody>
      </p:sp>
      <p:sp>
        <p:nvSpPr>
          <p:cNvPr id="45" name="Text 21">
            <a:extLst>
              <a:ext uri="{FF2B5EF4-FFF2-40B4-BE49-F238E27FC236}">
                <a16:creationId xmlns:a16="http://schemas.microsoft.com/office/drawing/2014/main" id="{C958C5EB-F6EF-D935-DA5D-FDCB1FB3C270}"/>
              </a:ext>
            </a:extLst>
          </p:cNvPr>
          <p:cNvSpPr/>
          <p:nvPr/>
        </p:nvSpPr>
        <p:spPr>
          <a:xfrm>
            <a:off x="1935881" y="2907792"/>
            <a:ext cx="38091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F3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choice: Why (every parameter has a business reason)?</a:t>
            </a:r>
            <a:endParaRPr lang="en-US" sz="1150" dirty="0"/>
          </a:p>
        </p:txBody>
      </p:sp>
      <p:graphicFrame>
        <p:nvGraphicFramePr>
          <p:cNvPr id="47" name="Table 0">
            <a:extLst>
              <a:ext uri="{FF2B5EF4-FFF2-40B4-BE49-F238E27FC236}">
                <a16:creationId xmlns:a16="http://schemas.microsoft.com/office/drawing/2014/main" id="{F3692EE4-3F40-389A-505B-45AFB2C58A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0171378"/>
              </p:ext>
            </p:extLst>
          </p:nvPr>
        </p:nvGraphicFramePr>
        <p:xfrm>
          <a:off x="502920" y="3200400"/>
          <a:ext cx="6675120" cy="3072384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0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b="1" dirty="0">
                          <a:solidFill>
                            <a:srgbClr val="3F3F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ε: linspace 1.0 → 0.05 over 10 waves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exploration at cold start (no model exists), near-full exploitation once confident. Mirrors the biweekly campaign calendar.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b="1" dirty="0">
                          <a:solidFill>
                            <a:srgbClr val="3F3F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 (not GBM / NN)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Interpretable coefficients for marketing, scores 50K × 96 = 4.8M pairs fast, rubric rewards a simple, fully-owned model.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b="1" dirty="0">
                          <a:solidFill>
                            <a:srgbClr val="3F3F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class_weight = "balanced"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Conversions are rare (&lt;3% early): Prevents collapsing to "never converts".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b="1" dirty="0">
                          <a:solidFill>
                            <a:srgbClr val="3F3F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max_iter = 1000 · random_state = 42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Guaranteed solver convergence, fully reproducible learning curve.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b="1" dirty="0">
                          <a:solidFill>
                            <a:srgbClr val="3F3F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Cumulative retraining (no sliding window)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 are i.i.d. draws from a stationary base, more data strictly reduces variance.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b="1" dirty="0">
                          <a:solidFill>
                            <a:srgbClr val="3F3F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Objective: argmax P(convert) × margin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Optimizes what the CMO cares about: Expected margin, not raw conversion.</a:t>
                      </a:r>
                      <a:endParaRPr lang="en-US" sz="9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9" name="Text 22">
            <a:extLst>
              <a:ext uri="{FF2B5EF4-FFF2-40B4-BE49-F238E27FC236}">
                <a16:creationId xmlns:a16="http://schemas.microsoft.com/office/drawing/2014/main" id="{323D89B8-F50D-FEB2-0154-A72D9E336EBA}"/>
              </a:ext>
            </a:extLst>
          </p:cNvPr>
          <p:cNvSpPr/>
          <p:nvPr/>
        </p:nvSpPr>
        <p:spPr>
          <a:xfrm>
            <a:off x="8021454" y="2907792"/>
            <a:ext cx="315949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F3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the loop learns: Conversion by training wave</a:t>
            </a:r>
            <a:endParaRPr lang="en-US" sz="1150" dirty="0"/>
          </a:p>
        </p:txBody>
      </p:sp>
      <p:graphicFrame>
        <p:nvGraphicFramePr>
          <p:cNvPr id="51" name="Chart 0">
            <a:extLst>
              <a:ext uri="{FF2B5EF4-FFF2-40B4-BE49-F238E27FC236}">
                <a16:creationId xmlns:a16="http://schemas.microsoft.com/office/drawing/2014/main" id="{017810CE-298F-0C98-B48F-CACD0A439D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56576901"/>
              </p:ext>
            </p:extLst>
          </p:nvPr>
        </p:nvGraphicFramePr>
        <p:xfrm>
          <a:off x="7543800" y="3218688"/>
          <a:ext cx="41148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3" name="Text 23">
            <a:extLst>
              <a:ext uri="{FF2B5EF4-FFF2-40B4-BE49-F238E27FC236}">
                <a16:creationId xmlns:a16="http://schemas.microsoft.com/office/drawing/2014/main" id="{1DEF0D6D-D007-B790-AA2B-B74C23F07071}"/>
              </a:ext>
            </a:extLst>
          </p:cNvPr>
          <p:cNvSpPr/>
          <p:nvPr/>
        </p:nvSpPr>
        <p:spPr>
          <a:xfrm>
            <a:off x="7543800" y="5898361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50"/>
              </a:lnSpc>
              <a:buNone/>
            </a:pPr>
            <a:r>
              <a:rPr lang="en-US" sz="880" i="1" dirty="0">
                <a:solidFill>
                  <a:srgbClr val="6B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1: 0.95% · $18K margin  →  Wave 10: 5.40% · $128.9K margin (ε = 0.05). Wave-8 dip = sampling variance at ε = 0.26.</a:t>
            </a:r>
            <a:endParaRPr lang="en-US" sz="880" dirty="0"/>
          </a:p>
        </p:txBody>
      </p:sp>
    </p:spTree>
    <p:extLst>
      <p:ext uri="{BB962C8B-B14F-4D97-AF65-F5344CB8AC3E}">
        <p14:creationId xmlns:p14="http://schemas.microsoft.com/office/powerpoint/2010/main" val="2143391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58B7E-D4E7-ACD9-76AA-FC390308B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B75376FE-4867-438F-7DCC-1AAF9047A5AC}"/>
              </a:ext>
            </a:extLst>
          </p:cNvPr>
          <p:cNvSpPr/>
          <p:nvPr/>
        </p:nvSpPr>
        <p:spPr>
          <a:xfrm>
            <a:off x="1321069" y="263731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4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THREE STRATEGIES COMPARED</a:t>
            </a:r>
            <a:endParaRPr lang="en-US" sz="105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7C67DD3C-8EBE-C8D1-3FB8-9F58D6D821A6}"/>
              </a:ext>
            </a:extLst>
          </p:cNvPr>
          <p:cNvSpPr/>
          <p:nvPr/>
        </p:nvSpPr>
        <p:spPr>
          <a:xfrm>
            <a:off x="1321069" y="446611"/>
            <a:ext cx="10200371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300" b="1" dirty="0">
                <a:solidFill>
                  <a:srgbClr val="3F3F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the official 50K validation base the bandit delivers $133.8K margin, 4.67× low-cost, by steering every lead to a tailored high-speed bundle</a:t>
            </a:r>
            <a:endParaRPr lang="en-US" sz="23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E202F65B-0E7E-F4D6-0D80-401CDE1E3538}"/>
              </a:ext>
            </a:extLst>
          </p:cNvPr>
          <p:cNvSpPr/>
          <p:nvPr/>
        </p:nvSpPr>
        <p:spPr>
          <a:xfrm>
            <a:off x="1749552" y="1389888"/>
            <a:ext cx="423672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3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test set: 50,000 leads, identical base for all three strategies</a:t>
            </a:r>
            <a:endParaRPr lang="en-US" sz="1200" dirty="0"/>
          </a:p>
        </p:txBody>
      </p:sp>
      <p:graphicFrame>
        <p:nvGraphicFramePr>
          <p:cNvPr id="9" name="Table 0">
            <a:extLst>
              <a:ext uri="{FF2B5EF4-FFF2-40B4-BE49-F238E27FC236}">
                <a16:creationId xmlns:a16="http://schemas.microsoft.com/office/drawing/2014/main" id="{A2FEA453-226C-24FD-DE58-AC80CFC30F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1135958"/>
              </p:ext>
            </p:extLst>
          </p:nvPr>
        </p:nvGraphicFramePr>
        <p:xfrm>
          <a:off x="530352" y="1682496"/>
          <a:ext cx="6675120" cy="1783080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3F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3F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Conv. rate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3F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margin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3F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 / convert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3F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 / lead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25400" marB="254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3F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3F3F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offer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25400" marT="25400" marB="254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25400" marT="25400" marB="254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25400" marT="25400" marB="254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$18,829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25400" marT="25400" marB="254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$40.06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25400" marT="25400" marB="254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$0.38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25400" marT="25400" marB="254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3F3F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Low-cost offer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25400" marT="25400" marB="254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1,143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25400" marT="25400" marB="254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25400" marT="25400" marB="254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$28,644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25400" marT="25400" marB="254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$25.06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25400" marT="25400" marB="254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$0.57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25400" marT="25400" marB="254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D94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Contextual bandit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25400" marT="25400" marB="254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D94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2,863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25400" marT="25400" marB="254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D94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25400" marT="25400" marB="254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D94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$133,848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25400" marT="25400" marB="254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D94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$46.75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25400" marT="25400" marB="254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D948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$2.68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25400" marT="25400" marB="2540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56" name="Grupo 55">
            <a:extLst>
              <a:ext uri="{FF2B5EF4-FFF2-40B4-BE49-F238E27FC236}">
                <a16:creationId xmlns:a16="http://schemas.microsoft.com/office/drawing/2014/main" id="{0776D708-39B8-7C5D-1C28-5B704DB37FF4}"/>
              </a:ext>
            </a:extLst>
          </p:cNvPr>
          <p:cNvGrpSpPr/>
          <p:nvPr/>
        </p:nvGrpSpPr>
        <p:grpSpPr>
          <a:xfrm>
            <a:off x="530352" y="3840480"/>
            <a:ext cx="6675120" cy="713232"/>
            <a:chOff x="502920" y="3840480"/>
            <a:chExt cx="6675120" cy="713232"/>
          </a:xfrm>
        </p:grpSpPr>
        <p:sp>
          <p:nvSpPr>
            <p:cNvPr id="11" name="Shape 3">
              <a:extLst>
                <a:ext uri="{FF2B5EF4-FFF2-40B4-BE49-F238E27FC236}">
                  <a16:creationId xmlns:a16="http://schemas.microsoft.com/office/drawing/2014/main" id="{18BA51BE-484B-2A3F-15E9-A1E88991364C}"/>
                </a:ext>
              </a:extLst>
            </p:cNvPr>
            <p:cNvSpPr/>
            <p:nvPr/>
          </p:nvSpPr>
          <p:spPr>
            <a:xfrm>
              <a:off x="502920" y="3840480"/>
              <a:ext cx="6675120" cy="713232"/>
            </a:xfrm>
            <a:prstGeom prst="roundRect">
              <a:avLst>
                <a:gd name="adj" fmla="val 8974"/>
              </a:avLst>
            </a:prstGeom>
            <a:solidFill>
              <a:srgbClr val="3F3F41"/>
            </a:solidFill>
            <a:ln/>
          </p:spPr>
          <p:txBody>
            <a:bodyPr/>
            <a:lstStyle/>
            <a:p>
              <a:endParaRPr lang="es-CO"/>
            </a:p>
          </p:txBody>
        </p:sp>
        <p:sp>
          <p:nvSpPr>
            <p:cNvPr id="13" name="Text 4">
              <a:extLst>
                <a:ext uri="{FF2B5EF4-FFF2-40B4-BE49-F238E27FC236}">
                  <a16:creationId xmlns:a16="http://schemas.microsoft.com/office/drawing/2014/main" id="{A1FBA770-4EC9-E88F-1222-9786CE68ACB8}"/>
                </a:ext>
              </a:extLst>
            </p:cNvPr>
            <p:cNvSpPr/>
            <p:nvPr/>
          </p:nvSpPr>
          <p:spPr>
            <a:xfrm>
              <a:off x="1047951" y="3913632"/>
              <a:ext cx="5585059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Lift:  </a:t>
              </a:r>
              <a:r>
                <a:rPr lang="en-US" sz="1250" dirty="0">
                  <a:solidFill>
                    <a:srgbClr val="E9E7E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vs. low-cost </a:t>
              </a:r>
              <a:r>
                <a:rPr lang="en-US" sz="1250" b="1" dirty="0">
                  <a:solidFill>
                    <a:srgbClr val="FF784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+$105,205 (4.67×, +367%)</a:t>
              </a:r>
              <a:r>
                <a:rPr lang="en-US" sz="1250" dirty="0">
                  <a:solidFill>
                    <a:srgbClr val="E9E7E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  -   vs. random </a:t>
              </a:r>
              <a:r>
                <a:rPr lang="en-US" sz="1250" b="1" dirty="0">
                  <a:solidFill>
                    <a:srgbClr val="FF784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+$115,020 (7.11×, +611%)</a:t>
              </a:r>
              <a:endParaRPr lang="en-US" sz="1250" dirty="0"/>
            </a:p>
          </p:txBody>
        </p:sp>
      </p:grpSp>
      <p:sp>
        <p:nvSpPr>
          <p:cNvPr id="15" name="Text 5">
            <a:extLst>
              <a:ext uri="{FF2B5EF4-FFF2-40B4-BE49-F238E27FC236}">
                <a16:creationId xmlns:a16="http://schemas.microsoft.com/office/drawing/2014/main" id="{B8ADC5B0-6EDD-2D8E-B78F-F0341BC75641}"/>
              </a:ext>
            </a:extLst>
          </p:cNvPr>
          <p:cNvSpPr/>
          <p:nvPr/>
        </p:nvSpPr>
        <p:spPr>
          <a:xfrm>
            <a:off x="2131755" y="4773168"/>
            <a:ext cx="3472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3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wins: Top model drivers (log-odds coefficients)</a:t>
            </a:r>
            <a:endParaRPr lang="en-US" sz="1200" dirty="0"/>
          </a:p>
        </p:txBody>
      </p:sp>
      <p:grpSp>
        <p:nvGrpSpPr>
          <p:cNvPr id="57" name="Grupo 56">
            <a:extLst>
              <a:ext uri="{FF2B5EF4-FFF2-40B4-BE49-F238E27FC236}">
                <a16:creationId xmlns:a16="http://schemas.microsoft.com/office/drawing/2014/main" id="{446EB72F-7295-B321-6853-5AD8D3E004FB}"/>
              </a:ext>
            </a:extLst>
          </p:cNvPr>
          <p:cNvGrpSpPr/>
          <p:nvPr/>
        </p:nvGrpSpPr>
        <p:grpSpPr>
          <a:xfrm>
            <a:off x="502920" y="5065776"/>
            <a:ext cx="6729984" cy="1335024"/>
            <a:chOff x="502920" y="5065776"/>
            <a:chExt cx="6729984" cy="1335024"/>
          </a:xfrm>
        </p:grpSpPr>
        <p:sp>
          <p:nvSpPr>
            <p:cNvPr id="17" name="Shape 6">
              <a:extLst>
                <a:ext uri="{FF2B5EF4-FFF2-40B4-BE49-F238E27FC236}">
                  <a16:creationId xmlns:a16="http://schemas.microsoft.com/office/drawing/2014/main" id="{315318C6-A693-7606-25D4-F545BF2D1CA9}"/>
                </a:ext>
              </a:extLst>
            </p:cNvPr>
            <p:cNvSpPr/>
            <p:nvPr/>
          </p:nvSpPr>
          <p:spPr>
            <a:xfrm>
              <a:off x="502920" y="5065776"/>
              <a:ext cx="2157984" cy="621792"/>
            </a:xfrm>
            <a:prstGeom prst="roundRect">
              <a:avLst>
                <a:gd name="adj" fmla="val 8824"/>
              </a:avLst>
            </a:prstGeom>
            <a:solidFill>
              <a:srgbClr val="FDE7DD"/>
            </a:solidFill>
            <a:ln/>
          </p:spPr>
          <p:txBody>
            <a:bodyPr/>
            <a:lstStyle/>
            <a:p>
              <a:endParaRPr lang="es-CO"/>
            </a:p>
          </p:txBody>
        </p:sp>
        <p:sp>
          <p:nvSpPr>
            <p:cNvPr id="19" name="Text 7">
              <a:extLst>
                <a:ext uri="{FF2B5EF4-FFF2-40B4-BE49-F238E27FC236}">
                  <a16:creationId xmlns:a16="http://schemas.microsoft.com/office/drawing/2014/main" id="{E20CF7A2-BA60-4400-9DFE-015F90DFDE00}"/>
                </a:ext>
              </a:extLst>
            </p:cNvPr>
            <p:cNvSpPr/>
            <p:nvPr/>
          </p:nvSpPr>
          <p:spPr>
            <a:xfrm>
              <a:off x="594360" y="5120640"/>
              <a:ext cx="1975104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D9481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+2.83</a:t>
              </a:r>
              <a:endParaRPr lang="en-US" sz="1300" dirty="0"/>
            </a:p>
          </p:txBody>
        </p:sp>
        <p:sp>
          <p:nvSpPr>
            <p:cNvPr id="21" name="Text 8">
              <a:extLst>
                <a:ext uri="{FF2B5EF4-FFF2-40B4-BE49-F238E27FC236}">
                  <a16:creationId xmlns:a16="http://schemas.microsoft.com/office/drawing/2014/main" id="{9747BD3C-D43C-2726-FEE0-1BC2BCCBDFB5}"/>
                </a:ext>
              </a:extLst>
            </p:cNvPr>
            <p:cNvSpPr/>
            <p:nvPr/>
          </p:nvSpPr>
          <p:spPr>
            <a:xfrm>
              <a:off x="594360" y="5394960"/>
              <a:ext cx="20116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Segment A</a:t>
              </a:r>
              <a:endParaRPr lang="en-US" sz="1000" dirty="0"/>
            </a:p>
          </p:txBody>
        </p:sp>
        <p:sp>
          <p:nvSpPr>
            <p:cNvPr id="23" name="Shape 9">
              <a:extLst>
                <a:ext uri="{FF2B5EF4-FFF2-40B4-BE49-F238E27FC236}">
                  <a16:creationId xmlns:a16="http://schemas.microsoft.com/office/drawing/2014/main" id="{623186C4-00E5-FF66-3D17-D34BBCA3E5FE}"/>
                </a:ext>
              </a:extLst>
            </p:cNvPr>
            <p:cNvSpPr/>
            <p:nvPr/>
          </p:nvSpPr>
          <p:spPr>
            <a:xfrm>
              <a:off x="2788920" y="5065776"/>
              <a:ext cx="2157984" cy="621792"/>
            </a:xfrm>
            <a:prstGeom prst="roundRect">
              <a:avLst>
                <a:gd name="adj" fmla="val 8824"/>
              </a:avLst>
            </a:prstGeom>
            <a:solidFill>
              <a:srgbClr val="FDE7DD"/>
            </a:solidFill>
            <a:ln/>
          </p:spPr>
          <p:txBody>
            <a:bodyPr/>
            <a:lstStyle/>
            <a:p>
              <a:endParaRPr lang="es-CO"/>
            </a:p>
          </p:txBody>
        </p:sp>
        <p:sp>
          <p:nvSpPr>
            <p:cNvPr id="25" name="Text 10">
              <a:extLst>
                <a:ext uri="{FF2B5EF4-FFF2-40B4-BE49-F238E27FC236}">
                  <a16:creationId xmlns:a16="http://schemas.microsoft.com/office/drawing/2014/main" id="{683D2664-29D0-3B5E-193F-6EF74043B16B}"/>
                </a:ext>
              </a:extLst>
            </p:cNvPr>
            <p:cNvSpPr/>
            <p:nvPr/>
          </p:nvSpPr>
          <p:spPr>
            <a:xfrm>
              <a:off x="2880360" y="5120640"/>
              <a:ext cx="1975104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D9481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+2.14</a:t>
              </a:r>
              <a:endParaRPr lang="en-US" sz="1300" dirty="0"/>
            </a:p>
          </p:txBody>
        </p:sp>
        <p:sp>
          <p:nvSpPr>
            <p:cNvPr id="27" name="Text 11">
              <a:extLst>
                <a:ext uri="{FF2B5EF4-FFF2-40B4-BE49-F238E27FC236}">
                  <a16:creationId xmlns:a16="http://schemas.microsoft.com/office/drawing/2014/main" id="{04DFDC41-F6DA-A64C-51AC-9F0859D4C761}"/>
                </a:ext>
              </a:extLst>
            </p:cNvPr>
            <p:cNvSpPr/>
            <p:nvPr/>
          </p:nvSpPr>
          <p:spPr>
            <a:xfrm>
              <a:off x="2880360" y="5394960"/>
              <a:ext cx="20116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Home-centric mobility</a:t>
              </a:r>
            </a:p>
          </p:txBody>
        </p:sp>
        <p:sp>
          <p:nvSpPr>
            <p:cNvPr id="29" name="Shape 12">
              <a:extLst>
                <a:ext uri="{FF2B5EF4-FFF2-40B4-BE49-F238E27FC236}">
                  <a16:creationId xmlns:a16="http://schemas.microsoft.com/office/drawing/2014/main" id="{C62C8446-6AE9-02E9-A8D1-9ADFE5251AAB}"/>
                </a:ext>
              </a:extLst>
            </p:cNvPr>
            <p:cNvSpPr/>
            <p:nvPr/>
          </p:nvSpPr>
          <p:spPr>
            <a:xfrm>
              <a:off x="5074920" y="5065776"/>
              <a:ext cx="2157984" cy="621792"/>
            </a:xfrm>
            <a:prstGeom prst="roundRect">
              <a:avLst>
                <a:gd name="adj" fmla="val 8824"/>
              </a:avLst>
            </a:prstGeom>
            <a:solidFill>
              <a:srgbClr val="ECECEA"/>
            </a:solidFill>
            <a:ln/>
          </p:spPr>
          <p:txBody>
            <a:bodyPr/>
            <a:lstStyle/>
            <a:p>
              <a:endParaRPr lang="es-CO"/>
            </a:p>
          </p:txBody>
        </p:sp>
        <p:sp>
          <p:nvSpPr>
            <p:cNvPr id="31" name="Text 13">
              <a:extLst>
                <a:ext uri="{FF2B5EF4-FFF2-40B4-BE49-F238E27FC236}">
                  <a16:creationId xmlns:a16="http://schemas.microsoft.com/office/drawing/2014/main" id="{066B8C4A-2DCA-A067-9C33-C7C4A5E2A134}"/>
                </a:ext>
              </a:extLst>
            </p:cNvPr>
            <p:cNvSpPr/>
            <p:nvPr/>
          </p:nvSpPr>
          <p:spPr>
            <a:xfrm>
              <a:off x="5166360" y="5120640"/>
              <a:ext cx="1975104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58595B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−2.61</a:t>
              </a:r>
              <a:endParaRPr lang="en-US" sz="1300" dirty="0"/>
            </a:p>
          </p:txBody>
        </p:sp>
        <p:sp>
          <p:nvSpPr>
            <p:cNvPr id="33" name="Text 14">
              <a:extLst>
                <a:ext uri="{FF2B5EF4-FFF2-40B4-BE49-F238E27FC236}">
                  <a16:creationId xmlns:a16="http://schemas.microsoft.com/office/drawing/2014/main" id="{0EB54809-14D0-6842-2615-539C0BA94F04}"/>
                </a:ext>
              </a:extLst>
            </p:cNvPr>
            <p:cNvSpPr/>
            <p:nvPr/>
          </p:nvSpPr>
          <p:spPr>
            <a:xfrm>
              <a:off x="5166360" y="5394960"/>
              <a:ext cx="20116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Voice line attached</a:t>
              </a:r>
              <a:endParaRPr lang="en-US" sz="1000" dirty="0"/>
            </a:p>
          </p:txBody>
        </p:sp>
        <p:sp>
          <p:nvSpPr>
            <p:cNvPr id="35" name="Shape 15">
              <a:extLst>
                <a:ext uri="{FF2B5EF4-FFF2-40B4-BE49-F238E27FC236}">
                  <a16:creationId xmlns:a16="http://schemas.microsoft.com/office/drawing/2014/main" id="{8366ED88-EF9A-98A7-97B6-4443FC88669B}"/>
                </a:ext>
              </a:extLst>
            </p:cNvPr>
            <p:cNvSpPr/>
            <p:nvPr/>
          </p:nvSpPr>
          <p:spPr>
            <a:xfrm>
              <a:off x="502920" y="5779008"/>
              <a:ext cx="2157984" cy="621792"/>
            </a:xfrm>
            <a:prstGeom prst="roundRect">
              <a:avLst>
                <a:gd name="adj" fmla="val 8824"/>
              </a:avLst>
            </a:prstGeom>
            <a:solidFill>
              <a:srgbClr val="ECECEA"/>
            </a:solidFill>
            <a:ln/>
          </p:spPr>
          <p:txBody>
            <a:bodyPr/>
            <a:lstStyle/>
            <a:p>
              <a:endParaRPr lang="es-CO"/>
            </a:p>
          </p:txBody>
        </p:sp>
        <p:sp>
          <p:nvSpPr>
            <p:cNvPr id="37" name="Text 16">
              <a:extLst>
                <a:ext uri="{FF2B5EF4-FFF2-40B4-BE49-F238E27FC236}">
                  <a16:creationId xmlns:a16="http://schemas.microsoft.com/office/drawing/2014/main" id="{98D4F299-94E1-E2D6-64D0-C18D0B2647F0}"/>
                </a:ext>
              </a:extLst>
            </p:cNvPr>
            <p:cNvSpPr/>
            <p:nvPr/>
          </p:nvSpPr>
          <p:spPr>
            <a:xfrm>
              <a:off x="594360" y="5833872"/>
              <a:ext cx="1975104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58595B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−2.17</a:t>
              </a:r>
              <a:endParaRPr lang="en-US" sz="1300" dirty="0"/>
            </a:p>
          </p:txBody>
        </p:sp>
        <p:sp>
          <p:nvSpPr>
            <p:cNvPr id="39" name="Text 17">
              <a:extLst>
                <a:ext uri="{FF2B5EF4-FFF2-40B4-BE49-F238E27FC236}">
                  <a16:creationId xmlns:a16="http://schemas.microsoft.com/office/drawing/2014/main" id="{F2580317-E09D-CD04-FB6C-615A211E70AE}"/>
                </a:ext>
              </a:extLst>
            </p:cNvPr>
            <p:cNvSpPr/>
            <p:nvPr/>
          </p:nvSpPr>
          <p:spPr>
            <a:xfrm>
              <a:off x="594360" y="6108192"/>
              <a:ext cx="20116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Home-Work-3rd-site mobility</a:t>
              </a:r>
              <a:endParaRPr lang="en-US" sz="1000" dirty="0"/>
            </a:p>
          </p:txBody>
        </p:sp>
        <p:sp>
          <p:nvSpPr>
            <p:cNvPr id="41" name="Shape 18">
              <a:extLst>
                <a:ext uri="{FF2B5EF4-FFF2-40B4-BE49-F238E27FC236}">
                  <a16:creationId xmlns:a16="http://schemas.microsoft.com/office/drawing/2014/main" id="{1164EC9E-F66A-A8FB-ED6B-1D982B9E3AA1}"/>
                </a:ext>
              </a:extLst>
            </p:cNvPr>
            <p:cNvSpPr/>
            <p:nvPr/>
          </p:nvSpPr>
          <p:spPr>
            <a:xfrm>
              <a:off x="2788920" y="5779008"/>
              <a:ext cx="2157984" cy="621792"/>
            </a:xfrm>
            <a:prstGeom prst="roundRect">
              <a:avLst>
                <a:gd name="adj" fmla="val 8824"/>
              </a:avLst>
            </a:prstGeom>
            <a:solidFill>
              <a:srgbClr val="ECECEA"/>
            </a:solidFill>
            <a:ln/>
          </p:spPr>
          <p:txBody>
            <a:bodyPr/>
            <a:lstStyle/>
            <a:p>
              <a:endParaRPr lang="es-CO"/>
            </a:p>
          </p:txBody>
        </p:sp>
        <p:sp>
          <p:nvSpPr>
            <p:cNvPr id="43" name="Text 19">
              <a:extLst>
                <a:ext uri="{FF2B5EF4-FFF2-40B4-BE49-F238E27FC236}">
                  <a16:creationId xmlns:a16="http://schemas.microsoft.com/office/drawing/2014/main" id="{A55B72E7-A852-8C8F-9B01-574DDC889E3C}"/>
                </a:ext>
              </a:extLst>
            </p:cNvPr>
            <p:cNvSpPr/>
            <p:nvPr/>
          </p:nvSpPr>
          <p:spPr>
            <a:xfrm>
              <a:off x="2880360" y="5833872"/>
              <a:ext cx="1975104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58595B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−1.57</a:t>
              </a:r>
              <a:endParaRPr lang="en-US" sz="1300" dirty="0"/>
            </a:p>
          </p:txBody>
        </p:sp>
        <p:sp>
          <p:nvSpPr>
            <p:cNvPr id="45" name="Text 20">
              <a:extLst>
                <a:ext uri="{FF2B5EF4-FFF2-40B4-BE49-F238E27FC236}">
                  <a16:creationId xmlns:a16="http://schemas.microsoft.com/office/drawing/2014/main" id="{95B00484-25A1-9356-1CBF-0FAFF107BBD9}"/>
                </a:ext>
              </a:extLst>
            </p:cNvPr>
            <p:cNvSpPr/>
            <p:nvPr/>
          </p:nvSpPr>
          <p:spPr>
            <a:xfrm>
              <a:off x="2880360" y="6108192"/>
              <a:ext cx="20116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333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iPhone mid-end device</a:t>
              </a:r>
              <a:endParaRPr lang="en-US" sz="1000" dirty="0"/>
            </a:p>
          </p:txBody>
        </p:sp>
      </p:grpSp>
      <p:sp>
        <p:nvSpPr>
          <p:cNvPr id="47" name="Text 21">
            <a:extLst>
              <a:ext uri="{FF2B5EF4-FFF2-40B4-BE49-F238E27FC236}">
                <a16:creationId xmlns:a16="http://schemas.microsoft.com/office/drawing/2014/main" id="{E7880046-3B54-47FC-6B98-32FD691EA2D4}"/>
              </a:ext>
            </a:extLst>
          </p:cNvPr>
          <p:cNvSpPr/>
          <p:nvPr/>
        </p:nvSpPr>
        <p:spPr>
          <a:xfrm>
            <a:off x="502920" y="651052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6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independently rediscovered and quantified the business intuition of the profiling and experiment analysis.</a:t>
            </a:r>
            <a:endParaRPr lang="en-US" sz="900" dirty="0"/>
          </a:p>
        </p:txBody>
      </p:sp>
      <p:sp>
        <p:nvSpPr>
          <p:cNvPr id="49" name="Text 22">
            <a:extLst>
              <a:ext uri="{FF2B5EF4-FFF2-40B4-BE49-F238E27FC236}">
                <a16:creationId xmlns:a16="http://schemas.microsoft.com/office/drawing/2014/main" id="{39619C3E-778E-8B80-CB80-F61CB1F1651E}"/>
              </a:ext>
            </a:extLst>
          </p:cNvPr>
          <p:cNvSpPr/>
          <p:nvPr/>
        </p:nvSpPr>
        <p:spPr>
          <a:xfrm>
            <a:off x="7365735" y="1389888"/>
            <a:ext cx="33856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3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Personalization proof: Offer mix chosen by the policy</a:t>
            </a:r>
            <a:endParaRPr lang="en-US" sz="1200" dirty="0"/>
          </a:p>
        </p:txBody>
      </p:sp>
      <p:pic>
        <p:nvPicPr>
          <p:cNvPr id="51" name="Image 0" descr="nb_images/img_13.png">
            <a:extLst>
              <a:ext uri="{FF2B5EF4-FFF2-40B4-BE49-F238E27FC236}">
                <a16:creationId xmlns:a16="http://schemas.microsoft.com/office/drawing/2014/main" id="{1ED0FE9E-8476-1433-FF7F-D089C81A38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5735" y="1682496"/>
            <a:ext cx="4206240" cy="1783080"/>
          </a:xfrm>
          <a:prstGeom prst="rect">
            <a:avLst/>
          </a:prstGeom>
        </p:spPr>
      </p:pic>
      <p:sp>
        <p:nvSpPr>
          <p:cNvPr id="53" name="Shape 23">
            <a:extLst>
              <a:ext uri="{FF2B5EF4-FFF2-40B4-BE49-F238E27FC236}">
                <a16:creationId xmlns:a16="http://schemas.microsoft.com/office/drawing/2014/main" id="{3E13D575-9C93-9C00-A5B4-666F2C49FA8F}"/>
              </a:ext>
            </a:extLst>
          </p:cNvPr>
          <p:cNvSpPr/>
          <p:nvPr/>
        </p:nvSpPr>
        <p:spPr>
          <a:xfrm>
            <a:off x="7365735" y="3611880"/>
            <a:ext cx="4233672" cy="28346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5" name="Text 24">
            <a:extLst>
              <a:ext uri="{FF2B5EF4-FFF2-40B4-BE49-F238E27FC236}">
                <a16:creationId xmlns:a16="http://schemas.microsoft.com/office/drawing/2014/main" id="{CF9ADC87-B74B-F61C-7484-B1D673F269A6}"/>
              </a:ext>
            </a:extLst>
          </p:cNvPr>
          <p:cNvSpPr/>
          <p:nvPr/>
        </p:nvSpPr>
        <p:spPr>
          <a:xfrm>
            <a:off x="7548615" y="3749040"/>
            <a:ext cx="38862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3F3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policy actively uses 6 of 96 valid bundles</a:t>
            </a:r>
            <a:br>
              <a:rPr lang="en-US" sz="1100" b="1" dirty="0">
                <a:solidFill>
                  <a:srgbClr val="3F3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1100" dirty="0"/>
          </a:p>
          <a:p>
            <a:pPr marL="171450" indent="-171450">
              <a:lnSpc>
                <a:spcPts val="12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Speed + WiFi 77.7%  </a:t>
            </a:r>
          </a:p>
          <a:p>
            <a:pPr marL="171450" indent="-171450">
              <a:lnSpc>
                <a:spcPts val="12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Premium TV 9.3%  </a:t>
            </a:r>
          </a:p>
          <a:p>
            <a:pPr marL="171450" indent="-171450">
              <a:lnSpc>
                <a:spcPts val="12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Premium TV + Disney 6.9% </a:t>
            </a:r>
          </a:p>
          <a:p>
            <a:pPr marL="171450" indent="-171450">
              <a:lnSpc>
                <a:spcPts val="12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Disney 3.3%  </a:t>
            </a:r>
          </a:p>
          <a:p>
            <a:pPr marL="171450" indent="-171450">
              <a:lnSpc>
                <a:spcPts val="12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both OTTs 2.6%  </a:t>
            </a:r>
          </a:p>
          <a:p>
            <a:pPr marL="171450" indent="-171450">
              <a:lnSpc>
                <a:spcPts val="12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0.2%.</a:t>
            </a:r>
            <a:endParaRPr lang="en-US" sz="11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never recommends Low Speed, Basic TV or standalone Voice, the exact opposite of today’s ops strategy  and always attaches the $4 WiFi add-on, which raises perceived value more than it hurts price.</a:t>
            </a:r>
            <a:endParaRPr lang="en-US" sz="11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100" i="1" dirty="0">
                <a:solidFill>
                  <a:srgbClr val="D94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≠ shortcut: Argmax of expected margin legitimately concentrates when one bundle dominates most of the customer space. The differential is who gets Premium TV / Disney added.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1920499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41CF2-959B-F3C5-3721-F9EB3BF96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D7ADC0B9-2853-5E79-0D1A-D147E8C01AFA}"/>
              </a:ext>
            </a:extLst>
          </p:cNvPr>
          <p:cNvSpPr/>
          <p:nvPr/>
        </p:nvSpPr>
        <p:spPr>
          <a:xfrm>
            <a:off x="1340321" y="25410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4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USE-CASE PROPOSAL</a:t>
            </a:r>
            <a:endParaRPr lang="en-US" sz="105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95C65DE3-4C46-205F-D28F-0C878AB90402}"/>
              </a:ext>
            </a:extLst>
          </p:cNvPr>
          <p:cNvSpPr/>
          <p:nvPr/>
        </p:nvSpPr>
        <p:spPr>
          <a:xfrm>
            <a:off x="1340321" y="436986"/>
            <a:ext cx="1018111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300" b="1" dirty="0">
                <a:solidFill>
                  <a:srgbClr val="3F3F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Scaling the recommender into an agentic CVM loop can compound the $105K/wave lift while cutting campaign cycle time from weeks to days</a:t>
            </a:r>
            <a:endParaRPr lang="en-US" sz="23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DE0A51BE-7413-1873-CA87-144C49FF6719}"/>
              </a:ext>
            </a:extLst>
          </p:cNvPr>
          <p:cNvSpPr/>
          <p:nvPr/>
        </p:nvSpPr>
        <p:spPr>
          <a:xfrm>
            <a:off x="1244067" y="1612233"/>
            <a:ext cx="46024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3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architecture: Four purposeful agents around an MLOps core</a:t>
            </a:r>
            <a:endParaRPr lang="en-US" sz="1200" dirty="0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737725A4-6B22-B606-96E0-9CF8E01D3E11}"/>
              </a:ext>
            </a:extLst>
          </p:cNvPr>
          <p:cNvSpPr/>
          <p:nvPr/>
        </p:nvSpPr>
        <p:spPr>
          <a:xfrm>
            <a:off x="502920" y="1932273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F5F4F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7146C3E8-ED26-8251-E02B-C17C076C981A}"/>
              </a:ext>
            </a:extLst>
          </p:cNvPr>
          <p:cNvSpPr/>
          <p:nvPr/>
        </p:nvSpPr>
        <p:spPr>
          <a:xfrm>
            <a:off x="658368" y="2051145"/>
            <a:ext cx="329184" cy="329184"/>
          </a:xfrm>
          <a:prstGeom prst="ellipse">
            <a:avLst/>
          </a:prstGeom>
          <a:solidFill>
            <a:srgbClr val="3F3F4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3" name="Image 0" descr="icons/database_white.png">
            <a:extLst>
              <a:ext uri="{FF2B5EF4-FFF2-40B4-BE49-F238E27FC236}">
                <a16:creationId xmlns:a16="http://schemas.microsoft.com/office/drawing/2014/main" id="{705B4446-F71B-88CD-213E-D1517725A5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956" y="2136733"/>
            <a:ext cx="158008" cy="158008"/>
          </a:xfrm>
          <a:prstGeom prst="rect">
            <a:avLst/>
          </a:prstGeom>
        </p:spPr>
      </p:pic>
      <p:sp>
        <p:nvSpPr>
          <p:cNvPr id="15" name="Text 5">
            <a:extLst>
              <a:ext uri="{FF2B5EF4-FFF2-40B4-BE49-F238E27FC236}">
                <a16:creationId xmlns:a16="http://schemas.microsoft.com/office/drawing/2014/main" id="{7A27AFE3-67BF-3367-7A48-26AD9A7F9FFC}"/>
              </a:ext>
            </a:extLst>
          </p:cNvPr>
          <p:cNvSpPr/>
          <p:nvPr/>
        </p:nvSpPr>
        <p:spPr>
          <a:xfrm>
            <a:off x="1115568" y="1996281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F3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200" dirty="0"/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46A5870A-8A69-1FF2-2A8F-418E6BF0880E}"/>
              </a:ext>
            </a:extLst>
          </p:cNvPr>
          <p:cNvSpPr/>
          <p:nvPr/>
        </p:nvSpPr>
        <p:spPr>
          <a:xfrm>
            <a:off x="1115568" y="2206593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/ CDR feature store - CRM - Billing margins</a:t>
            </a:r>
            <a:endParaRPr lang="en-US" sz="1100" dirty="0"/>
          </a:p>
        </p:txBody>
      </p:sp>
      <p:sp>
        <p:nvSpPr>
          <p:cNvPr id="19" name="Shape 7">
            <a:extLst>
              <a:ext uri="{FF2B5EF4-FFF2-40B4-BE49-F238E27FC236}">
                <a16:creationId xmlns:a16="http://schemas.microsoft.com/office/drawing/2014/main" id="{8FA24596-C8BC-DB4A-05B4-7C2633B54C8E}"/>
              </a:ext>
            </a:extLst>
          </p:cNvPr>
          <p:cNvSpPr/>
          <p:nvPr/>
        </p:nvSpPr>
        <p:spPr>
          <a:xfrm>
            <a:off x="502920" y="2627217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F5F4F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Shape 8">
            <a:extLst>
              <a:ext uri="{FF2B5EF4-FFF2-40B4-BE49-F238E27FC236}">
                <a16:creationId xmlns:a16="http://schemas.microsoft.com/office/drawing/2014/main" id="{DB942D16-8A2D-E496-E44E-18C33CD474A4}"/>
              </a:ext>
            </a:extLst>
          </p:cNvPr>
          <p:cNvSpPr/>
          <p:nvPr/>
        </p:nvSpPr>
        <p:spPr>
          <a:xfrm>
            <a:off x="658368" y="2746089"/>
            <a:ext cx="329184" cy="329184"/>
          </a:xfrm>
          <a:prstGeom prst="ellipse">
            <a:avLst/>
          </a:prstGeom>
          <a:solidFill>
            <a:srgbClr val="3F3F4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3" name="Image 1" descr="icons/cogs_white.png">
            <a:extLst>
              <a:ext uri="{FF2B5EF4-FFF2-40B4-BE49-F238E27FC236}">
                <a16:creationId xmlns:a16="http://schemas.microsoft.com/office/drawing/2014/main" id="{995A42C1-9AF2-C276-243F-A288F4D193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956" y="2831677"/>
            <a:ext cx="158008" cy="158008"/>
          </a:xfrm>
          <a:prstGeom prst="rect">
            <a:avLst/>
          </a:prstGeom>
        </p:spPr>
      </p:pic>
      <p:sp>
        <p:nvSpPr>
          <p:cNvPr id="25" name="Text 9">
            <a:extLst>
              <a:ext uri="{FF2B5EF4-FFF2-40B4-BE49-F238E27FC236}">
                <a16:creationId xmlns:a16="http://schemas.microsoft.com/office/drawing/2014/main" id="{86A01B5A-3076-60B2-EFD7-EE7AF68976A1}"/>
              </a:ext>
            </a:extLst>
          </p:cNvPr>
          <p:cNvSpPr/>
          <p:nvPr/>
        </p:nvSpPr>
        <p:spPr>
          <a:xfrm>
            <a:off x="1115568" y="2691225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F3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CORE</a:t>
            </a:r>
            <a:endParaRPr lang="en-US" sz="1200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F80A4553-0B11-F660-86B4-7C4A6D3DD825}"/>
              </a:ext>
            </a:extLst>
          </p:cNvPr>
          <p:cNvSpPr/>
          <p:nvPr/>
        </p:nvSpPr>
        <p:spPr>
          <a:xfrm>
            <a:off x="1115568" y="2901537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pipeline - Model registry - Champion/Challenger serving API</a:t>
            </a:r>
            <a:endParaRPr lang="en-US" sz="1100" dirty="0"/>
          </a:p>
        </p:txBody>
      </p:sp>
      <p:sp>
        <p:nvSpPr>
          <p:cNvPr id="29" name="Shape 11">
            <a:extLst>
              <a:ext uri="{FF2B5EF4-FFF2-40B4-BE49-F238E27FC236}">
                <a16:creationId xmlns:a16="http://schemas.microsoft.com/office/drawing/2014/main" id="{9BFC89E1-B15B-0489-9BD5-6DD4E4235F84}"/>
              </a:ext>
            </a:extLst>
          </p:cNvPr>
          <p:cNvSpPr/>
          <p:nvPr/>
        </p:nvSpPr>
        <p:spPr>
          <a:xfrm>
            <a:off x="502920" y="3322161"/>
            <a:ext cx="5074920" cy="1481328"/>
          </a:xfrm>
          <a:prstGeom prst="roundRect">
            <a:avLst>
              <a:gd name="adj" fmla="val 3704"/>
            </a:avLst>
          </a:prstGeom>
          <a:solidFill>
            <a:srgbClr val="3F3F4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1" name="Text 12">
            <a:extLst>
              <a:ext uri="{FF2B5EF4-FFF2-40B4-BE49-F238E27FC236}">
                <a16:creationId xmlns:a16="http://schemas.microsoft.com/office/drawing/2014/main" id="{FB1B2116-5397-FFE0-08DE-215FEDAE7ED7}"/>
              </a:ext>
            </a:extLst>
          </p:cNvPr>
          <p:cNvSpPr/>
          <p:nvPr/>
        </p:nvSpPr>
        <p:spPr>
          <a:xfrm>
            <a:off x="685800" y="3386169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LAYER</a:t>
            </a:r>
            <a:endParaRPr lang="en-US" sz="1100" dirty="0"/>
          </a:p>
        </p:txBody>
      </p:sp>
      <p:sp>
        <p:nvSpPr>
          <p:cNvPr id="33" name="Shape 13">
            <a:extLst>
              <a:ext uri="{FF2B5EF4-FFF2-40B4-BE49-F238E27FC236}">
                <a16:creationId xmlns:a16="http://schemas.microsoft.com/office/drawing/2014/main" id="{0AED3F26-FBD8-DECE-37FA-C3ECDA3FF0D5}"/>
              </a:ext>
            </a:extLst>
          </p:cNvPr>
          <p:cNvSpPr/>
          <p:nvPr/>
        </p:nvSpPr>
        <p:spPr>
          <a:xfrm>
            <a:off x="685800" y="3623913"/>
            <a:ext cx="2286000" cy="512064"/>
          </a:xfrm>
          <a:prstGeom prst="roundRect">
            <a:avLst>
              <a:gd name="adj" fmla="val 8929"/>
            </a:avLst>
          </a:prstGeom>
          <a:solidFill>
            <a:srgbClr val="2A2A2C"/>
          </a:solidFill>
          <a:ln w="9525">
            <a:solidFill>
              <a:srgbClr val="D9481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Text 14">
            <a:extLst>
              <a:ext uri="{FF2B5EF4-FFF2-40B4-BE49-F238E27FC236}">
                <a16:creationId xmlns:a16="http://schemas.microsoft.com/office/drawing/2014/main" id="{156C9BD7-EAF1-4DA2-0475-375209B069DF}"/>
              </a:ext>
            </a:extLst>
          </p:cNvPr>
          <p:cNvSpPr/>
          <p:nvPr/>
        </p:nvSpPr>
        <p:spPr>
          <a:xfrm>
            <a:off x="758952" y="3651345"/>
            <a:ext cx="2139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7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Decision</a:t>
            </a:r>
            <a:endParaRPr lang="en-US" sz="1000" dirty="0"/>
          </a:p>
        </p:txBody>
      </p:sp>
      <p:sp>
        <p:nvSpPr>
          <p:cNvPr id="37" name="Text 15">
            <a:extLst>
              <a:ext uri="{FF2B5EF4-FFF2-40B4-BE49-F238E27FC236}">
                <a16:creationId xmlns:a16="http://schemas.microsoft.com/office/drawing/2014/main" id="{7B862375-4E2F-E03D-5769-3525DE834B53}"/>
              </a:ext>
            </a:extLst>
          </p:cNvPr>
          <p:cNvSpPr/>
          <p:nvPr/>
        </p:nvSpPr>
        <p:spPr>
          <a:xfrm>
            <a:off x="758952" y="3806793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750"/>
              </a:lnSpc>
              <a:buNone/>
            </a:pPr>
            <a:r>
              <a:rPr lang="en-US" sz="900" dirty="0">
                <a:solidFill>
                  <a:srgbClr val="E9E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bandit policy per lead in real time, escalates low-confidence cases to exploration</a:t>
            </a:r>
            <a:endParaRPr lang="en-US" sz="900" dirty="0"/>
          </a:p>
        </p:txBody>
      </p:sp>
      <p:sp>
        <p:nvSpPr>
          <p:cNvPr id="39" name="Shape 16">
            <a:extLst>
              <a:ext uri="{FF2B5EF4-FFF2-40B4-BE49-F238E27FC236}">
                <a16:creationId xmlns:a16="http://schemas.microsoft.com/office/drawing/2014/main" id="{C881ADAD-D45F-953D-217E-7818A979D45D}"/>
              </a:ext>
            </a:extLst>
          </p:cNvPr>
          <p:cNvSpPr/>
          <p:nvPr/>
        </p:nvSpPr>
        <p:spPr>
          <a:xfrm>
            <a:off x="3090672" y="3623913"/>
            <a:ext cx="2286000" cy="512064"/>
          </a:xfrm>
          <a:prstGeom prst="roundRect">
            <a:avLst>
              <a:gd name="adj" fmla="val 8929"/>
            </a:avLst>
          </a:prstGeom>
          <a:solidFill>
            <a:srgbClr val="2A2A2C"/>
          </a:solidFill>
          <a:ln w="9525">
            <a:solidFill>
              <a:srgbClr val="D9481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1" name="Text 17">
            <a:extLst>
              <a:ext uri="{FF2B5EF4-FFF2-40B4-BE49-F238E27FC236}">
                <a16:creationId xmlns:a16="http://schemas.microsoft.com/office/drawing/2014/main" id="{D53E3C83-B65D-8E94-017E-B205EEE2FD34}"/>
              </a:ext>
            </a:extLst>
          </p:cNvPr>
          <p:cNvSpPr/>
          <p:nvPr/>
        </p:nvSpPr>
        <p:spPr>
          <a:xfrm>
            <a:off x="3163824" y="3651345"/>
            <a:ext cx="2139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7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Experimentation</a:t>
            </a:r>
            <a:endParaRPr lang="en-US" sz="1000" dirty="0"/>
          </a:p>
        </p:txBody>
      </p:sp>
      <p:sp>
        <p:nvSpPr>
          <p:cNvPr id="43" name="Text 18">
            <a:extLst>
              <a:ext uri="{FF2B5EF4-FFF2-40B4-BE49-F238E27FC236}">
                <a16:creationId xmlns:a16="http://schemas.microsoft.com/office/drawing/2014/main" id="{A4574050-6560-7876-75F9-5DBEAB2A020F}"/>
              </a:ext>
            </a:extLst>
          </p:cNvPr>
          <p:cNvSpPr/>
          <p:nvPr/>
        </p:nvSpPr>
        <p:spPr>
          <a:xfrm>
            <a:off x="3163824" y="3806793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750"/>
              </a:lnSpc>
              <a:buNone/>
            </a:pPr>
            <a:r>
              <a:rPr lang="en-US" sz="900" dirty="0">
                <a:solidFill>
                  <a:srgbClr val="E9E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ε budget &amp; holdout design, every wave yields unbiased learning data</a:t>
            </a:r>
            <a:endParaRPr lang="en-US" sz="900" dirty="0"/>
          </a:p>
        </p:txBody>
      </p:sp>
      <p:sp>
        <p:nvSpPr>
          <p:cNvPr id="45" name="Shape 19">
            <a:extLst>
              <a:ext uri="{FF2B5EF4-FFF2-40B4-BE49-F238E27FC236}">
                <a16:creationId xmlns:a16="http://schemas.microsoft.com/office/drawing/2014/main" id="{BD7B2E22-AC8B-2164-EAAF-A9631AA19D23}"/>
              </a:ext>
            </a:extLst>
          </p:cNvPr>
          <p:cNvSpPr/>
          <p:nvPr/>
        </p:nvSpPr>
        <p:spPr>
          <a:xfrm>
            <a:off x="685800" y="4199985"/>
            <a:ext cx="2286000" cy="512064"/>
          </a:xfrm>
          <a:prstGeom prst="roundRect">
            <a:avLst>
              <a:gd name="adj" fmla="val 8929"/>
            </a:avLst>
          </a:prstGeom>
          <a:solidFill>
            <a:srgbClr val="2A2A2C"/>
          </a:solidFill>
          <a:ln w="9525">
            <a:solidFill>
              <a:srgbClr val="D9481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7" name="Text 20">
            <a:extLst>
              <a:ext uri="{FF2B5EF4-FFF2-40B4-BE49-F238E27FC236}">
                <a16:creationId xmlns:a16="http://schemas.microsoft.com/office/drawing/2014/main" id="{918292C8-5B14-55CF-4FD7-64A0B7678B1B}"/>
              </a:ext>
            </a:extLst>
          </p:cNvPr>
          <p:cNvSpPr/>
          <p:nvPr/>
        </p:nvSpPr>
        <p:spPr>
          <a:xfrm>
            <a:off x="758952" y="4227417"/>
            <a:ext cx="2139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7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&amp; Narrative</a:t>
            </a:r>
            <a:endParaRPr lang="en-US" sz="1000" dirty="0"/>
          </a:p>
        </p:txBody>
      </p:sp>
      <p:sp>
        <p:nvSpPr>
          <p:cNvPr id="49" name="Text 21">
            <a:extLst>
              <a:ext uri="{FF2B5EF4-FFF2-40B4-BE49-F238E27FC236}">
                <a16:creationId xmlns:a16="http://schemas.microsoft.com/office/drawing/2014/main" id="{7A6F8E67-E82F-CE04-2E9D-2D9CF38D6204}"/>
              </a:ext>
            </a:extLst>
          </p:cNvPr>
          <p:cNvSpPr/>
          <p:nvPr/>
        </p:nvSpPr>
        <p:spPr>
          <a:xfrm>
            <a:off x="758952" y="4382865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750"/>
              </a:lnSpc>
              <a:buNone/>
            </a:pPr>
            <a:r>
              <a:rPr lang="en-US" sz="900" dirty="0">
                <a:solidFill>
                  <a:srgbClr val="E9E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coefficient shifts into weekly CMO-Readable briefs</a:t>
            </a:r>
            <a:endParaRPr lang="en-US" sz="900" dirty="0"/>
          </a:p>
        </p:txBody>
      </p:sp>
      <p:sp>
        <p:nvSpPr>
          <p:cNvPr id="51" name="Shape 22">
            <a:extLst>
              <a:ext uri="{FF2B5EF4-FFF2-40B4-BE49-F238E27FC236}">
                <a16:creationId xmlns:a16="http://schemas.microsoft.com/office/drawing/2014/main" id="{232371B2-421B-8325-B47D-735372E0AE57}"/>
              </a:ext>
            </a:extLst>
          </p:cNvPr>
          <p:cNvSpPr/>
          <p:nvPr/>
        </p:nvSpPr>
        <p:spPr>
          <a:xfrm>
            <a:off x="3090672" y="4199985"/>
            <a:ext cx="2286000" cy="512064"/>
          </a:xfrm>
          <a:prstGeom prst="roundRect">
            <a:avLst>
              <a:gd name="adj" fmla="val 8929"/>
            </a:avLst>
          </a:prstGeom>
          <a:solidFill>
            <a:srgbClr val="2A2A2C"/>
          </a:solidFill>
          <a:ln w="9525">
            <a:solidFill>
              <a:srgbClr val="D9481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3" name="Text 23">
            <a:extLst>
              <a:ext uri="{FF2B5EF4-FFF2-40B4-BE49-F238E27FC236}">
                <a16:creationId xmlns:a16="http://schemas.microsoft.com/office/drawing/2014/main" id="{1AC914A9-0AAD-D968-946B-1DDFDB57D594}"/>
              </a:ext>
            </a:extLst>
          </p:cNvPr>
          <p:cNvSpPr/>
          <p:nvPr/>
        </p:nvSpPr>
        <p:spPr>
          <a:xfrm>
            <a:off x="3163824" y="4227417"/>
            <a:ext cx="2139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7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/ Drift</a:t>
            </a:r>
            <a:endParaRPr lang="en-US" sz="1000" dirty="0"/>
          </a:p>
        </p:txBody>
      </p:sp>
      <p:sp>
        <p:nvSpPr>
          <p:cNvPr id="55" name="Text 24">
            <a:extLst>
              <a:ext uri="{FF2B5EF4-FFF2-40B4-BE49-F238E27FC236}">
                <a16:creationId xmlns:a16="http://schemas.microsoft.com/office/drawing/2014/main" id="{4D3B2FF0-A13D-5AC4-3A4A-CA306ED3BE31}"/>
              </a:ext>
            </a:extLst>
          </p:cNvPr>
          <p:cNvSpPr/>
          <p:nvPr/>
        </p:nvSpPr>
        <p:spPr>
          <a:xfrm>
            <a:off x="3163824" y="4382865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750"/>
              </a:lnSpc>
              <a:buNone/>
            </a:pPr>
            <a:r>
              <a:rPr lang="en-US" sz="900" dirty="0">
                <a:solidFill>
                  <a:srgbClr val="E9E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calibration, triggers retraining or rollback</a:t>
            </a:r>
            <a:endParaRPr lang="en-US" sz="900" dirty="0"/>
          </a:p>
        </p:txBody>
      </p:sp>
      <p:sp>
        <p:nvSpPr>
          <p:cNvPr id="57" name="Shape 25">
            <a:extLst>
              <a:ext uri="{FF2B5EF4-FFF2-40B4-BE49-F238E27FC236}">
                <a16:creationId xmlns:a16="http://schemas.microsoft.com/office/drawing/2014/main" id="{586B1C80-8AA8-4F8E-E17D-943D2FBFB9E0}"/>
              </a:ext>
            </a:extLst>
          </p:cNvPr>
          <p:cNvSpPr/>
          <p:nvPr/>
        </p:nvSpPr>
        <p:spPr>
          <a:xfrm>
            <a:off x="502920" y="4931505"/>
            <a:ext cx="5074920" cy="566928"/>
          </a:xfrm>
          <a:prstGeom prst="roundRect">
            <a:avLst>
              <a:gd name="adj" fmla="val 9677"/>
            </a:avLst>
          </a:prstGeom>
          <a:solidFill>
            <a:srgbClr val="F5F4F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9" name="Shape 26">
            <a:extLst>
              <a:ext uri="{FF2B5EF4-FFF2-40B4-BE49-F238E27FC236}">
                <a16:creationId xmlns:a16="http://schemas.microsoft.com/office/drawing/2014/main" id="{59A0D691-0A63-F858-0E23-C2A6BF2E9043}"/>
              </a:ext>
            </a:extLst>
          </p:cNvPr>
          <p:cNvSpPr/>
          <p:nvPr/>
        </p:nvSpPr>
        <p:spPr>
          <a:xfrm>
            <a:off x="658368" y="5050377"/>
            <a:ext cx="329184" cy="329184"/>
          </a:xfrm>
          <a:prstGeom prst="ellipse">
            <a:avLst/>
          </a:prstGeom>
          <a:solidFill>
            <a:srgbClr val="3F3F41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61" name="Image 2" descr="icons/headset_white.png">
            <a:extLst>
              <a:ext uri="{FF2B5EF4-FFF2-40B4-BE49-F238E27FC236}">
                <a16:creationId xmlns:a16="http://schemas.microsoft.com/office/drawing/2014/main" id="{8CCF8937-3249-74B6-E244-CE6BB0128B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956" y="5135965"/>
            <a:ext cx="158008" cy="158008"/>
          </a:xfrm>
          <a:prstGeom prst="rect">
            <a:avLst/>
          </a:prstGeom>
        </p:spPr>
      </p:pic>
      <p:sp>
        <p:nvSpPr>
          <p:cNvPr id="63" name="Text 27">
            <a:extLst>
              <a:ext uri="{FF2B5EF4-FFF2-40B4-BE49-F238E27FC236}">
                <a16:creationId xmlns:a16="http://schemas.microsoft.com/office/drawing/2014/main" id="{C4B451D3-82BB-2FC1-37A5-7B00BF3DA150}"/>
              </a:ext>
            </a:extLst>
          </p:cNvPr>
          <p:cNvSpPr/>
          <p:nvPr/>
        </p:nvSpPr>
        <p:spPr>
          <a:xfrm>
            <a:off x="1115568" y="4995513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F3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lang="en-US" sz="1200" dirty="0"/>
          </a:p>
        </p:txBody>
      </p:sp>
      <p:sp>
        <p:nvSpPr>
          <p:cNvPr id="65" name="Text 28">
            <a:extLst>
              <a:ext uri="{FF2B5EF4-FFF2-40B4-BE49-F238E27FC236}">
                <a16:creationId xmlns:a16="http://schemas.microsoft.com/office/drawing/2014/main" id="{BE812728-A6D2-C709-A1F2-C16DFDDC995F}"/>
              </a:ext>
            </a:extLst>
          </p:cNvPr>
          <p:cNvSpPr/>
          <p:nvPr/>
        </p:nvSpPr>
        <p:spPr>
          <a:xfrm>
            <a:off x="1115568" y="5205825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Contact-center CTI / predictive dialer · campaign manager</a:t>
            </a:r>
            <a:endParaRPr lang="en-US" sz="1100" dirty="0"/>
          </a:p>
        </p:txBody>
      </p:sp>
      <p:sp>
        <p:nvSpPr>
          <p:cNvPr id="67" name="Shape 29">
            <a:extLst>
              <a:ext uri="{FF2B5EF4-FFF2-40B4-BE49-F238E27FC236}">
                <a16:creationId xmlns:a16="http://schemas.microsoft.com/office/drawing/2014/main" id="{D26EF37E-E3D4-0C8A-B862-9C7A030F87BA}"/>
              </a:ext>
            </a:extLst>
          </p:cNvPr>
          <p:cNvSpPr/>
          <p:nvPr/>
        </p:nvSpPr>
        <p:spPr>
          <a:xfrm>
            <a:off x="5669280" y="2627217"/>
            <a:ext cx="1143000" cy="2176272"/>
          </a:xfrm>
          <a:prstGeom prst="roundRect">
            <a:avLst>
              <a:gd name="adj" fmla="val 4800"/>
            </a:avLst>
          </a:prstGeom>
          <a:solidFill>
            <a:srgbClr val="FDE7DD"/>
          </a:solidFill>
          <a:ln w="9525">
            <a:solidFill>
              <a:srgbClr val="D9481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9" name="Shape 30">
            <a:extLst>
              <a:ext uri="{FF2B5EF4-FFF2-40B4-BE49-F238E27FC236}">
                <a16:creationId xmlns:a16="http://schemas.microsoft.com/office/drawing/2014/main" id="{B13CB188-EA04-10FD-C7DE-1CF7AECE40FC}"/>
              </a:ext>
            </a:extLst>
          </p:cNvPr>
          <p:cNvSpPr/>
          <p:nvPr/>
        </p:nvSpPr>
        <p:spPr>
          <a:xfrm>
            <a:off x="5989320" y="2755233"/>
            <a:ext cx="457200" cy="457200"/>
          </a:xfrm>
          <a:prstGeom prst="ellipse">
            <a:avLst/>
          </a:prstGeom>
          <a:solidFill>
            <a:srgbClr val="D9481F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71" name="Image 3" descr="icons/shield_white.png">
            <a:extLst>
              <a:ext uri="{FF2B5EF4-FFF2-40B4-BE49-F238E27FC236}">
                <a16:creationId xmlns:a16="http://schemas.microsoft.com/office/drawing/2014/main" id="{C08D71B0-2122-7B2B-1C81-212A9E80E6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8192" y="2874105"/>
            <a:ext cx="219456" cy="219456"/>
          </a:xfrm>
          <a:prstGeom prst="rect">
            <a:avLst/>
          </a:prstGeom>
        </p:spPr>
      </p:pic>
      <p:sp>
        <p:nvSpPr>
          <p:cNvPr id="73" name="Text 31">
            <a:extLst>
              <a:ext uri="{FF2B5EF4-FFF2-40B4-BE49-F238E27FC236}">
                <a16:creationId xmlns:a16="http://schemas.microsoft.com/office/drawing/2014/main" id="{03C89965-D9CD-BD3B-57F8-4B7AD93A25F1}"/>
              </a:ext>
            </a:extLst>
          </p:cNvPr>
          <p:cNvSpPr/>
          <p:nvPr/>
        </p:nvSpPr>
        <p:spPr>
          <a:xfrm>
            <a:off x="5724144" y="3276441"/>
            <a:ext cx="1033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D94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200" dirty="0"/>
          </a:p>
        </p:txBody>
      </p:sp>
      <p:sp>
        <p:nvSpPr>
          <p:cNvPr id="75" name="Text 32">
            <a:extLst>
              <a:ext uri="{FF2B5EF4-FFF2-40B4-BE49-F238E27FC236}">
                <a16:creationId xmlns:a16="http://schemas.microsoft.com/office/drawing/2014/main" id="{13198B71-AB2A-B2AD-D11D-1EB2B6F282ED}"/>
              </a:ext>
            </a:extLst>
          </p:cNvPr>
          <p:cNvSpPr/>
          <p:nvPr/>
        </p:nvSpPr>
        <p:spPr>
          <a:xfrm>
            <a:off x="5742432" y="3477609"/>
            <a:ext cx="1005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ts val="85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A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96-action validity rules</a:t>
            </a:r>
          </a:p>
          <a:p>
            <a:pPr marL="171450" indent="-171450">
              <a:lnSpc>
                <a:spcPts val="85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A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floors</a:t>
            </a:r>
          </a:p>
          <a:p>
            <a:pPr marL="171450" indent="-171450">
              <a:lnSpc>
                <a:spcPts val="85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A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policy</a:t>
            </a:r>
          </a:p>
          <a:p>
            <a:pPr marL="171450" indent="-171450">
              <a:lnSpc>
                <a:spcPts val="85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A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 for new offers</a:t>
            </a:r>
            <a:endParaRPr lang="en-US" sz="1200" dirty="0"/>
          </a:p>
        </p:txBody>
      </p:sp>
      <p:sp>
        <p:nvSpPr>
          <p:cNvPr id="77" name="Text 33">
            <a:extLst>
              <a:ext uri="{FF2B5EF4-FFF2-40B4-BE49-F238E27FC236}">
                <a16:creationId xmlns:a16="http://schemas.microsoft.com/office/drawing/2014/main" id="{1A577591-1A02-413B-0E9E-39D5D404F37E}"/>
              </a:ext>
            </a:extLst>
          </p:cNvPr>
          <p:cNvSpPr/>
          <p:nvPr/>
        </p:nvSpPr>
        <p:spPr>
          <a:xfrm>
            <a:off x="8674771" y="1612233"/>
            <a:ext cx="17108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3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transformed</a:t>
            </a:r>
            <a:endParaRPr lang="en-US" sz="1200" dirty="0"/>
          </a:p>
        </p:txBody>
      </p:sp>
      <p:sp>
        <p:nvSpPr>
          <p:cNvPr id="79" name="Text 34">
            <a:extLst>
              <a:ext uri="{FF2B5EF4-FFF2-40B4-BE49-F238E27FC236}">
                <a16:creationId xmlns:a16="http://schemas.microsoft.com/office/drawing/2014/main" id="{415989B0-F703-D287-BF2F-9214DC94AF29}"/>
              </a:ext>
            </a:extLst>
          </p:cNvPr>
          <p:cNvSpPr/>
          <p:nvPr/>
        </p:nvSpPr>
        <p:spPr>
          <a:xfrm>
            <a:off x="7086600" y="1932273"/>
            <a:ext cx="4447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1200" b="1" dirty="0">
                <a:solidFill>
                  <a:srgbClr val="3F3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Lead scoring &amp; offer assignment: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manual promo rules → real-time learned policy</a:t>
            </a:r>
            <a:endParaRPr lang="en-US" sz="1200" dirty="0"/>
          </a:p>
        </p:txBody>
      </p:sp>
      <p:sp>
        <p:nvSpPr>
          <p:cNvPr id="81" name="Text 35">
            <a:extLst>
              <a:ext uri="{FF2B5EF4-FFF2-40B4-BE49-F238E27FC236}">
                <a16:creationId xmlns:a16="http://schemas.microsoft.com/office/drawing/2014/main" id="{04EC6DB3-1312-FAD6-A9FA-1EB4E1879B03}"/>
              </a:ext>
            </a:extLst>
          </p:cNvPr>
          <p:cNvSpPr/>
          <p:nvPr/>
        </p:nvSpPr>
        <p:spPr>
          <a:xfrm>
            <a:off x="7086600" y="2462625"/>
            <a:ext cx="4447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1200" b="1" dirty="0">
                <a:solidFill>
                  <a:srgbClr val="3F3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Experiment design: </a:t>
            </a: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d-hoc tests → automated ε / holdout management</a:t>
            </a:r>
            <a:endParaRPr lang="en-US" sz="1200" dirty="0"/>
          </a:p>
        </p:txBody>
      </p:sp>
      <p:sp>
        <p:nvSpPr>
          <p:cNvPr id="83" name="Text 36">
            <a:extLst>
              <a:ext uri="{FF2B5EF4-FFF2-40B4-BE49-F238E27FC236}">
                <a16:creationId xmlns:a16="http://schemas.microsoft.com/office/drawing/2014/main" id="{E5AC1899-2E24-919F-26B8-3C9D44F0D372}"/>
              </a:ext>
            </a:extLst>
          </p:cNvPr>
          <p:cNvSpPr/>
          <p:nvPr/>
        </p:nvSpPr>
        <p:spPr>
          <a:xfrm>
            <a:off x="7086600" y="2992977"/>
            <a:ext cx="4447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1200" b="1" dirty="0">
                <a:solidFill>
                  <a:srgbClr val="3F3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First-pitch call script: </a:t>
            </a: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eneric script → personalized opening (the case showed the first offer decides the call)</a:t>
            </a:r>
            <a:endParaRPr lang="en-US" sz="1200" dirty="0"/>
          </a:p>
        </p:txBody>
      </p:sp>
      <p:sp>
        <p:nvSpPr>
          <p:cNvPr id="85" name="Text 37">
            <a:extLst>
              <a:ext uri="{FF2B5EF4-FFF2-40B4-BE49-F238E27FC236}">
                <a16:creationId xmlns:a16="http://schemas.microsoft.com/office/drawing/2014/main" id="{518DB27F-8D44-317C-4963-B0DB88E7F9AB}"/>
              </a:ext>
            </a:extLst>
          </p:cNvPr>
          <p:cNvSpPr/>
          <p:nvPr/>
        </p:nvSpPr>
        <p:spPr>
          <a:xfrm>
            <a:off x="7086600" y="3523329"/>
            <a:ext cx="4447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1200" b="1" dirty="0">
                <a:solidFill>
                  <a:srgbClr val="3F3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Monitoring &amp; retraining: </a:t>
            </a: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anual reviews → continuous drift-triggered loop</a:t>
            </a:r>
            <a:endParaRPr lang="en-US" sz="1200" dirty="0"/>
          </a:p>
        </p:txBody>
      </p:sp>
      <p:sp>
        <p:nvSpPr>
          <p:cNvPr id="87" name="Shape 38">
            <a:extLst>
              <a:ext uri="{FF2B5EF4-FFF2-40B4-BE49-F238E27FC236}">
                <a16:creationId xmlns:a16="http://schemas.microsoft.com/office/drawing/2014/main" id="{DFE9D429-385E-D7C5-3FA9-A83AB66EFB34}"/>
              </a:ext>
            </a:extLst>
          </p:cNvPr>
          <p:cNvSpPr/>
          <p:nvPr/>
        </p:nvSpPr>
        <p:spPr>
          <a:xfrm>
            <a:off x="7086600" y="4172553"/>
            <a:ext cx="4447032" cy="1572768"/>
          </a:xfrm>
          <a:prstGeom prst="roundRect">
            <a:avLst>
              <a:gd name="adj" fmla="val 4070"/>
            </a:avLst>
          </a:prstGeom>
          <a:solidFill>
            <a:srgbClr val="3F3F4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9" name="Shape 39">
            <a:extLst>
              <a:ext uri="{FF2B5EF4-FFF2-40B4-BE49-F238E27FC236}">
                <a16:creationId xmlns:a16="http://schemas.microsoft.com/office/drawing/2014/main" id="{25302306-0463-DCBA-70C9-BA3340390FBA}"/>
              </a:ext>
            </a:extLst>
          </p:cNvPr>
          <p:cNvSpPr/>
          <p:nvPr/>
        </p:nvSpPr>
        <p:spPr>
          <a:xfrm>
            <a:off x="7269480" y="4337145"/>
            <a:ext cx="457200" cy="457200"/>
          </a:xfrm>
          <a:prstGeom prst="ellipse">
            <a:avLst/>
          </a:prstGeom>
          <a:solidFill>
            <a:srgbClr val="FF7847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91" name="Image 4" descr="icons/chartline_navy.png">
            <a:extLst>
              <a:ext uri="{FF2B5EF4-FFF2-40B4-BE49-F238E27FC236}">
                <a16:creationId xmlns:a16="http://schemas.microsoft.com/office/drawing/2014/main" id="{C300DA42-4AF4-3724-A1A3-E5EFD044F6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8352" y="4456017"/>
            <a:ext cx="219456" cy="219456"/>
          </a:xfrm>
          <a:prstGeom prst="rect">
            <a:avLst/>
          </a:prstGeom>
        </p:spPr>
      </p:pic>
      <p:sp>
        <p:nvSpPr>
          <p:cNvPr id="93" name="Text 40">
            <a:extLst>
              <a:ext uri="{FF2B5EF4-FFF2-40B4-BE49-F238E27FC236}">
                <a16:creationId xmlns:a16="http://schemas.microsoft.com/office/drawing/2014/main" id="{0F4227A7-D962-A05F-52F9-4F041A16A935}"/>
              </a:ext>
            </a:extLst>
          </p:cNvPr>
          <p:cNvSpPr/>
          <p:nvPr/>
        </p:nvSpPr>
        <p:spPr>
          <a:xfrm>
            <a:off x="7863840" y="4309713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7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INCREMENTAL VALUE</a:t>
            </a:r>
            <a:endParaRPr lang="en-US" sz="1200" dirty="0"/>
          </a:p>
        </p:txBody>
      </p:sp>
      <p:sp>
        <p:nvSpPr>
          <p:cNvPr id="95" name="Text 41">
            <a:extLst>
              <a:ext uri="{FF2B5EF4-FFF2-40B4-BE49-F238E27FC236}">
                <a16:creationId xmlns:a16="http://schemas.microsoft.com/office/drawing/2014/main" id="{072C9C4D-8892-8CAC-CE63-400754864548}"/>
              </a:ext>
            </a:extLst>
          </p:cNvPr>
          <p:cNvSpPr/>
          <p:nvPr/>
        </p:nvSpPr>
        <p:spPr>
          <a:xfrm>
            <a:off x="7863840" y="4556601"/>
            <a:ext cx="356920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1200" dirty="0">
                <a:solidFill>
                  <a:srgbClr val="E9E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randomized holdout (~5% of leads on the current low-cost rule) →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margin per wave = margin(agentic) − margin(holdout, scaled)</a:t>
            </a:r>
            <a:r>
              <a:rPr lang="en-US" sz="1200" dirty="0">
                <a:solidFill>
                  <a:srgbClr val="E9E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Secondary KPIs: Cycle time design→launch, % offers auto-approved within guardrails, model calibration error. Baseline anchored on the measured +$105K / 50K-wave lift.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802774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7F560-0432-B0CD-997A-3CBA02270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D8E741D5-399F-373E-2F26-E5861756D0B4}"/>
              </a:ext>
            </a:extLst>
          </p:cNvPr>
          <p:cNvSpPr/>
          <p:nvPr/>
        </p:nvSpPr>
        <p:spPr>
          <a:xfrm>
            <a:off x="1340321" y="2444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4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WAS USED TO DEVELOP THIS CASE</a:t>
            </a:r>
            <a:endParaRPr lang="en-US" sz="105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DEBD7AE7-D571-E3B3-8468-FD16AD8C338D}"/>
              </a:ext>
            </a:extLst>
          </p:cNvPr>
          <p:cNvSpPr/>
          <p:nvPr/>
        </p:nvSpPr>
        <p:spPr>
          <a:xfrm>
            <a:off x="1340321" y="427360"/>
            <a:ext cx="10345711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300" b="1" dirty="0">
                <a:solidFill>
                  <a:srgbClr val="3F3F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acted as a pair-programmer and thought partner under human direction: Every line of code, parameter and insight was reviewed and owned</a:t>
            </a:r>
            <a:endParaRPr lang="en-US" sz="23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2E04E94F-5474-A468-9A59-EDD32A70370A}"/>
              </a:ext>
            </a:extLst>
          </p:cNvPr>
          <p:cNvSpPr/>
          <p:nvPr/>
        </p:nvSpPr>
        <p:spPr>
          <a:xfrm>
            <a:off x="1417320" y="1417320"/>
            <a:ext cx="55504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kern="0" spc="150" dirty="0">
                <a:solidFill>
                  <a:srgbClr val="D94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A182DE23-0688-E8BB-98FC-4283467B0783}"/>
              </a:ext>
            </a:extLst>
          </p:cNvPr>
          <p:cNvSpPr/>
          <p:nvPr/>
        </p:nvSpPr>
        <p:spPr>
          <a:xfrm>
            <a:off x="3660006" y="1417320"/>
            <a:ext cx="14317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D94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WAS USED</a:t>
            </a:r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40B9C7CF-A2E7-0A6D-7CEC-51DA487AB4C4}"/>
              </a:ext>
            </a:extLst>
          </p:cNvPr>
          <p:cNvSpPr/>
          <p:nvPr/>
        </p:nvSpPr>
        <p:spPr>
          <a:xfrm>
            <a:off x="8253666" y="1417320"/>
            <a:ext cx="263250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D94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OWNERSHIP &amp; VALIDATION</a:t>
            </a:r>
            <a:endParaRPr lang="en-US" sz="1050" dirty="0"/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B2E4FA8B-7556-F104-2368-E251646CECB4}"/>
              </a:ext>
            </a:extLst>
          </p:cNvPr>
          <p:cNvSpPr/>
          <p:nvPr/>
        </p:nvSpPr>
        <p:spPr>
          <a:xfrm>
            <a:off x="502920" y="1783080"/>
            <a:ext cx="10975848" cy="1115568"/>
          </a:xfrm>
          <a:prstGeom prst="roundRect">
            <a:avLst>
              <a:gd name="adj" fmla="val 573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grpSp>
        <p:nvGrpSpPr>
          <p:cNvPr id="66" name="Grupo 65">
            <a:extLst>
              <a:ext uri="{FF2B5EF4-FFF2-40B4-BE49-F238E27FC236}">
                <a16:creationId xmlns:a16="http://schemas.microsoft.com/office/drawing/2014/main" id="{8338586A-FD4C-697A-9762-40BF27503CAE}"/>
              </a:ext>
            </a:extLst>
          </p:cNvPr>
          <p:cNvGrpSpPr/>
          <p:nvPr/>
        </p:nvGrpSpPr>
        <p:grpSpPr>
          <a:xfrm>
            <a:off x="685800" y="2098548"/>
            <a:ext cx="502920" cy="502920"/>
            <a:chOff x="685800" y="2075688"/>
            <a:chExt cx="502920" cy="502920"/>
          </a:xfrm>
        </p:grpSpPr>
        <p:sp>
          <p:nvSpPr>
            <p:cNvPr id="15" name="Shape 6">
              <a:extLst>
                <a:ext uri="{FF2B5EF4-FFF2-40B4-BE49-F238E27FC236}">
                  <a16:creationId xmlns:a16="http://schemas.microsoft.com/office/drawing/2014/main" id="{43078426-6E86-5A77-6AF9-142A5B9DB16E}"/>
                </a:ext>
              </a:extLst>
            </p:cNvPr>
            <p:cNvSpPr/>
            <p:nvPr/>
          </p:nvSpPr>
          <p:spPr>
            <a:xfrm>
              <a:off x="685800" y="2075688"/>
              <a:ext cx="502920" cy="502920"/>
            </a:xfrm>
            <a:prstGeom prst="ellipse">
              <a:avLst/>
            </a:prstGeom>
            <a:solidFill>
              <a:srgbClr val="3F3F41"/>
            </a:solidFill>
            <a:ln/>
          </p:spPr>
          <p:txBody>
            <a:bodyPr/>
            <a:lstStyle/>
            <a:p>
              <a:endParaRPr lang="es-CO"/>
            </a:p>
          </p:txBody>
        </p:sp>
        <p:pic>
          <p:nvPicPr>
            <p:cNvPr id="17" name="Image 0" descr="icons/search_white.png">
              <a:extLst>
                <a:ext uri="{FF2B5EF4-FFF2-40B4-BE49-F238E27FC236}">
                  <a16:creationId xmlns:a16="http://schemas.microsoft.com/office/drawing/2014/main" id="{72B0D8FD-527A-0D0B-7F43-866B434BB8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6559" y="2206447"/>
              <a:ext cx="241402" cy="241402"/>
            </a:xfrm>
            <a:prstGeom prst="rect">
              <a:avLst/>
            </a:prstGeom>
          </p:spPr>
        </p:pic>
      </p:grpSp>
      <p:sp>
        <p:nvSpPr>
          <p:cNvPr id="19" name="Text 7">
            <a:extLst>
              <a:ext uri="{FF2B5EF4-FFF2-40B4-BE49-F238E27FC236}">
                <a16:creationId xmlns:a16="http://schemas.microsoft.com/office/drawing/2014/main" id="{F859EFD1-3967-8C2C-E1A1-534C2E34F3A8}"/>
              </a:ext>
            </a:extLst>
          </p:cNvPr>
          <p:cNvSpPr/>
          <p:nvPr/>
        </p:nvSpPr>
        <p:spPr>
          <a:xfrm>
            <a:off x="1353312" y="1892808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3F3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Exploration</a:t>
            </a:r>
            <a:endParaRPr lang="en-US" sz="120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1F36F1B0-E176-3BF4-D669-9690CA8D71D1}"/>
              </a:ext>
            </a:extLst>
          </p:cNvPr>
          <p:cNvSpPr/>
          <p:nvPr/>
        </p:nvSpPr>
        <p:spPr>
          <a:xfrm>
            <a:off x="2724912" y="1892808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200"/>
              </a:lnSpc>
            </a:pPr>
            <a:r>
              <a:rPr lang="es-CO" sz="12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Drafted</a:t>
            </a:r>
            <a:r>
              <a:rPr lang="es-CO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CO" sz="12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r>
              <a:rPr lang="es-CO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s-CO" sz="12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r>
              <a:rPr lang="es-CO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CO" sz="12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boilerplate</a:t>
            </a:r>
            <a:r>
              <a:rPr lang="es-CO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CO" sz="12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</a:t>
            </a:r>
            <a:r>
              <a:rPr lang="es-CO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CO" sz="12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r>
              <a:rPr lang="es-CO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s-CO" sz="12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</a:t>
            </a:r>
            <a:r>
              <a:rPr lang="es-CO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charts </a:t>
            </a:r>
            <a:r>
              <a:rPr lang="es-CO" sz="12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r>
              <a:rPr lang="es-CO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CO" sz="12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</a:t>
            </a:r>
            <a:r>
              <a:rPr lang="es-CO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CO" sz="12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r>
              <a:rPr lang="es-CO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descriptive </a:t>
            </a:r>
            <a:r>
              <a:rPr lang="es-CO" sz="12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r>
              <a:rPr lang="es-CO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CO" sz="12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</a:t>
            </a:r>
            <a:r>
              <a:rPr lang="es-CO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CO" sz="12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r>
              <a:rPr lang="es-CO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base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</p:txBody>
      </p:sp>
      <p:sp>
        <p:nvSpPr>
          <p:cNvPr id="23" name="Shape 9">
            <a:extLst>
              <a:ext uri="{FF2B5EF4-FFF2-40B4-BE49-F238E27FC236}">
                <a16:creationId xmlns:a16="http://schemas.microsoft.com/office/drawing/2014/main" id="{6A00F181-60FA-57E8-995D-10CEA6CB7146}"/>
              </a:ext>
            </a:extLst>
          </p:cNvPr>
          <p:cNvSpPr/>
          <p:nvPr/>
        </p:nvSpPr>
        <p:spPr>
          <a:xfrm>
            <a:off x="7187184" y="1947672"/>
            <a:ext cx="10973" cy="786384"/>
          </a:xfrm>
          <a:prstGeom prst="rect">
            <a:avLst/>
          </a:prstGeom>
          <a:solidFill>
            <a:srgbClr val="D6D4D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059CC69E-FF97-B565-9954-A99D1802124E}"/>
              </a:ext>
            </a:extLst>
          </p:cNvPr>
          <p:cNvSpPr/>
          <p:nvPr/>
        </p:nvSpPr>
        <p:spPr>
          <a:xfrm>
            <a:off x="7315200" y="1892808"/>
            <a:ext cx="406024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200"/>
              </a:lnSpc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which business question each chart must answer, discarded non-insightful graphs.</a:t>
            </a:r>
          </a:p>
        </p:txBody>
      </p:sp>
      <p:sp>
        <p:nvSpPr>
          <p:cNvPr id="27" name="Shape 11">
            <a:extLst>
              <a:ext uri="{FF2B5EF4-FFF2-40B4-BE49-F238E27FC236}">
                <a16:creationId xmlns:a16="http://schemas.microsoft.com/office/drawing/2014/main" id="{2445295F-F76B-2AB2-5E03-0769A796299A}"/>
              </a:ext>
            </a:extLst>
          </p:cNvPr>
          <p:cNvSpPr/>
          <p:nvPr/>
        </p:nvSpPr>
        <p:spPr>
          <a:xfrm>
            <a:off x="502920" y="3035808"/>
            <a:ext cx="10975848" cy="1115568"/>
          </a:xfrm>
          <a:prstGeom prst="roundRect">
            <a:avLst>
              <a:gd name="adj" fmla="val 573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grpSp>
        <p:nvGrpSpPr>
          <p:cNvPr id="67" name="Grupo 66">
            <a:extLst>
              <a:ext uri="{FF2B5EF4-FFF2-40B4-BE49-F238E27FC236}">
                <a16:creationId xmlns:a16="http://schemas.microsoft.com/office/drawing/2014/main" id="{E067E8ED-35AC-F3FF-D76E-B177D7988D9F}"/>
              </a:ext>
            </a:extLst>
          </p:cNvPr>
          <p:cNvGrpSpPr/>
          <p:nvPr/>
        </p:nvGrpSpPr>
        <p:grpSpPr>
          <a:xfrm>
            <a:off x="685800" y="3351276"/>
            <a:ext cx="502920" cy="502920"/>
            <a:chOff x="685800" y="3328416"/>
            <a:chExt cx="502920" cy="502920"/>
          </a:xfrm>
        </p:grpSpPr>
        <p:sp>
          <p:nvSpPr>
            <p:cNvPr id="29" name="Shape 12">
              <a:extLst>
                <a:ext uri="{FF2B5EF4-FFF2-40B4-BE49-F238E27FC236}">
                  <a16:creationId xmlns:a16="http://schemas.microsoft.com/office/drawing/2014/main" id="{FED90320-32EA-605D-601E-CA4BB53DA874}"/>
                </a:ext>
              </a:extLst>
            </p:cNvPr>
            <p:cNvSpPr/>
            <p:nvPr/>
          </p:nvSpPr>
          <p:spPr>
            <a:xfrm>
              <a:off x="685800" y="3328416"/>
              <a:ext cx="502920" cy="502920"/>
            </a:xfrm>
            <a:prstGeom prst="ellipse">
              <a:avLst/>
            </a:prstGeom>
            <a:solidFill>
              <a:srgbClr val="3F3F41"/>
            </a:solidFill>
            <a:ln/>
          </p:spPr>
          <p:txBody>
            <a:bodyPr/>
            <a:lstStyle/>
            <a:p>
              <a:endParaRPr lang="es-CO"/>
            </a:p>
          </p:txBody>
        </p:sp>
        <p:pic>
          <p:nvPicPr>
            <p:cNvPr id="31" name="Image 1" descr="icons/cogs_white.png">
              <a:extLst>
                <a:ext uri="{FF2B5EF4-FFF2-40B4-BE49-F238E27FC236}">
                  <a16:creationId xmlns:a16="http://schemas.microsoft.com/office/drawing/2014/main" id="{1ACF3C8D-7AC6-60EA-5FF1-98CA48BA9C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6559" y="3459175"/>
              <a:ext cx="241402" cy="241402"/>
            </a:xfrm>
            <a:prstGeom prst="rect">
              <a:avLst/>
            </a:prstGeom>
          </p:spPr>
        </p:pic>
      </p:grpSp>
      <p:sp>
        <p:nvSpPr>
          <p:cNvPr id="33" name="Text 13">
            <a:extLst>
              <a:ext uri="{FF2B5EF4-FFF2-40B4-BE49-F238E27FC236}">
                <a16:creationId xmlns:a16="http://schemas.microsoft.com/office/drawing/2014/main" id="{940E63C3-CBE7-5C24-5F91-A8907DA50D00}"/>
              </a:ext>
            </a:extLst>
          </p:cNvPr>
          <p:cNvSpPr/>
          <p:nvPr/>
        </p:nvSpPr>
        <p:spPr>
          <a:xfrm>
            <a:off x="1353312" y="3145536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3F3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Modeling</a:t>
            </a:r>
            <a:endParaRPr lang="en-US" sz="1200" dirty="0"/>
          </a:p>
        </p:txBody>
      </p:sp>
      <p:sp>
        <p:nvSpPr>
          <p:cNvPr id="35" name="Text 14">
            <a:extLst>
              <a:ext uri="{FF2B5EF4-FFF2-40B4-BE49-F238E27FC236}">
                <a16:creationId xmlns:a16="http://schemas.microsoft.com/office/drawing/2014/main" id="{22A2D76C-1D80-9306-3CAD-E1AA04E9CD67}"/>
              </a:ext>
            </a:extLst>
          </p:cNvPr>
          <p:cNvSpPr/>
          <p:nvPr/>
        </p:nvSpPr>
        <p:spPr>
          <a:xfrm>
            <a:off x="2724912" y="3145536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200"/>
              </a:lnSpc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candidate architectures (multiclass model, per-offer models, contextual bandit) and drafted implementation code.</a:t>
            </a:r>
          </a:p>
        </p:txBody>
      </p:sp>
      <p:sp>
        <p:nvSpPr>
          <p:cNvPr id="37" name="Shape 15">
            <a:extLst>
              <a:ext uri="{FF2B5EF4-FFF2-40B4-BE49-F238E27FC236}">
                <a16:creationId xmlns:a16="http://schemas.microsoft.com/office/drawing/2014/main" id="{8688BA0E-CA71-38E5-E2D8-10DFB585075D}"/>
              </a:ext>
            </a:extLst>
          </p:cNvPr>
          <p:cNvSpPr/>
          <p:nvPr/>
        </p:nvSpPr>
        <p:spPr>
          <a:xfrm>
            <a:off x="7187184" y="3200400"/>
            <a:ext cx="10973" cy="786384"/>
          </a:xfrm>
          <a:prstGeom prst="rect">
            <a:avLst/>
          </a:prstGeom>
          <a:solidFill>
            <a:srgbClr val="D6D4D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9" name="Text 16">
            <a:extLst>
              <a:ext uri="{FF2B5EF4-FFF2-40B4-BE49-F238E27FC236}">
                <a16:creationId xmlns:a16="http://schemas.microsoft.com/office/drawing/2014/main" id="{73643243-F1C4-177F-F21C-DB8D641C5968}"/>
              </a:ext>
            </a:extLst>
          </p:cNvPr>
          <p:cNvSpPr/>
          <p:nvPr/>
        </p:nvSpPr>
        <p:spPr>
          <a:xfrm>
            <a:off x="7315200" y="3145536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lnSpc>
                <a:spcPts val="12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the bandit for its fit with the sequential 10-wave design and the “fully understood &gt; complex” rubric, challenged every parameter (ε schedule, class weighting, action-space constraints).</a:t>
            </a:r>
          </a:p>
        </p:txBody>
      </p:sp>
      <p:sp>
        <p:nvSpPr>
          <p:cNvPr id="41" name="Shape 17">
            <a:extLst>
              <a:ext uri="{FF2B5EF4-FFF2-40B4-BE49-F238E27FC236}">
                <a16:creationId xmlns:a16="http://schemas.microsoft.com/office/drawing/2014/main" id="{72839EA5-BA7C-5B94-F948-D42B9D1F58C0}"/>
              </a:ext>
            </a:extLst>
          </p:cNvPr>
          <p:cNvSpPr/>
          <p:nvPr/>
        </p:nvSpPr>
        <p:spPr>
          <a:xfrm>
            <a:off x="502920" y="4288536"/>
            <a:ext cx="10975848" cy="1115568"/>
          </a:xfrm>
          <a:prstGeom prst="roundRect">
            <a:avLst>
              <a:gd name="adj" fmla="val 573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grpSp>
        <p:nvGrpSpPr>
          <p:cNvPr id="68" name="Grupo 67">
            <a:extLst>
              <a:ext uri="{FF2B5EF4-FFF2-40B4-BE49-F238E27FC236}">
                <a16:creationId xmlns:a16="http://schemas.microsoft.com/office/drawing/2014/main" id="{0935E1BF-B017-3F80-9342-2E10FBE148E3}"/>
              </a:ext>
            </a:extLst>
          </p:cNvPr>
          <p:cNvGrpSpPr/>
          <p:nvPr/>
        </p:nvGrpSpPr>
        <p:grpSpPr>
          <a:xfrm>
            <a:off x="685800" y="4581144"/>
            <a:ext cx="502920" cy="502920"/>
            <a:chOff x="685800" y="4581144"/>
            <a:chExt cx="502920" cy="502920"/>
          </a:xfrm>
        </p:grpSpPr>
        <p:sp>
          <p:nvSpPr>
            <p:cNvPr id="43" name="Shape 18">
              <a:extLst>
                <a:ext uri="{FF2B5EF4-FFF2-40B4-BE49-F238E27FC236}">
                  <a16:creationId xmlns:a16="http://schemas.microsoft.com/office/drawing/2014/main" id="{2326D2CF-48F4-DC86-DC42-BB29FB60DB67}"/>
                </a:ext>
              </a:extLst>
            </p:cNvPr>
            <p:cNvSpPr/>
            <p:nvPr/>
          </p:nvSpPr>
          <p:spPr>
            <a:xfrm>
              <a:off x="685800" y="4581144"/>
              <a:ext cx="502920" cy="502920"/>
            </a:xfrm>
            <a:prstGeom prst="ellipse">
              <a:avLst/>
            </a:prstGeom>
            <a:solidFill>
              <a:srgbClr val="3F3F41"/>
            </a:solidFill>
            <a:ln/>
          </p:spPr>
          <p:txBody>
            <a:bodyPr/>
            <a:lstStyle/>
            <a:p>
              <a:endParaRPr lang="es-CO"/>
            </a:p>
          </p:txBody>
        </p:sp>
        <p:pic>
          <p:nvPicPr>
            <p:cNvPr id="45" name="Image 2" descr="icons/comment_white.png">
              <a:extLst>
                <a:ext uri="{FF2B5EF4-FFF2-40B4-BE49-F238E27FC236}">
                  <a16:creationId xmlns:a16="http://schemas.microsoft.com/office/drawing/2014/main" id="{4D0B0094-E8E0-C4FA-3530-0C2F5082AE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6559" y="4711903"/>
              <a:ext cx="241402" cy="241402"/>
            </a:xfrm>
            <a:prstGeom prst="rect">
              <a:avLst/>
            </a:prstGeom>
          </p:spPr>
        </p:pic>
      </p:grpSp>
      <p:sp>
        <p:nvSpPr>
          <p:cNvPr id="47" name="Text 19">
            <a:extLst>
              <a:ext uri="{FF2B5EF4-FFF2-40B4-BE49-F238E27FC236}">
                <a16:creationId xmlns:a16="http://schemas.microsoft.com/office/drawing/2014/main" id="{A09D6023-E7C9-AEDF-4778-057F52610F32}"/>
              </a:ext>
            </a:extLst>
          </p:cNvPr>
          <p:cNvSpPr/>
          <p:nvPr/>
        </p:nvSpPr>
        <p:spPr>
          <a:xfrm>
            <a:off x="1353312" y="4398264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3F3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Interpretation &amp; storytelling</a:t>
            </a:r>
            <a:endParaRPr lang="en-US" sz="1200" dirty="0"/>
          </a:p>
        </p:txBody>
      </p:sp>
      <p:sp>
        <p:nvSpPr>
          <p:cNvPr id="49" name="Text 20">
            <a:extLst>
              <a:ext uri="{FF2B5EF4-FFF2-40B4-BE49-F238E27FC236}">
                <a16:creationId xmlns:a16="http://schemas.microsoft.com/office/drawing/2014/main" id="{106CE633-A87D-A853-413F-C7DD5F9511D8}"/>
              </a:ext>
            </a:extLst>
          </p:cNvPr>
          <p:cNvSpPr/>
          <p:nvPr/>
        </p:nvSpPr>
        <p:spPr>
          <a:xfrm>
            <a:off x="2724912" y="4398264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lnSpc>
                <a:spcPts val="12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Stress-tested interpretations (log-odds vs. percentage points, mix-vs-price confound) and helped draft and structure this deck under the Pyramid Principle.</a:t>
            </a:r>
          </a:p>
        </p:txBody>
      </p:sp>
      <p:sp>
        <p:nvSpPr>
          <p:cNvPr id="51" name="Shape 21">
            <a:extLst>
              <a:ext uri="{FF2B5EF4-FFF2-40B4-BE49-F238E27FC236}">
                <a16:creationId xmlns:a16="http://schemas.microsoft.com/office/drawing/2014/main" id="{FFDF645E-9B22-3DD1-BE94-E874135E39FC}"/>
              </a:ext>
            </a:extLst>
          </p:cNvPr>
          <p:cNvSpPr/>
          <p:nvPr/>
        </p:nvSpPr>
        <p:spPr>
          <a:xfrm>
            <a:off x="7187184" y="4453128"/>
            <a:ext cx="10973" cy="786384"/>
          </a:xfrm>
          <a:prstGeom prst="rect">
            <a:avLst/>
          </a:prstGeom>
          <a:solidFill>
            <a:srgbClr val="D6D4D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3" name="Text 22">
            <a:extLst>
              <a:ext uri="{FF2B5EF4-FFF2-40B4-BE49-F238E27FC236}">
                <a16:creationId xmlns:a16="http://schemas.microsoft.com/office/drawing/2014/main" id="{345A692C-A3C3-B09A-25C4-715259CA3400}"/>
              </a:ext>
            </a:extLst>
          </p:cNvPr>
          <p:cNvSpPr/>
          <p:nvPr/>
        </p:nvSpPr>
        <p:spPr>
          <a:xfrm>
            <a:off x="7315200" y="4398264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lnSpc>
                <a:spcPts val="12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Wrote the final insights, verified every number against executed notebook outputs, define the storytelling and built the final deck.</a:t>
            </a:r>
          </a:p>
        </p:txBody>
      </p:sp>
      <p:sp>
        <p:nvSpPr>
          <p:cNvPr id="55" name="Shape 23">
            <a:extLst>
              <a:ext uri="{FF2B5EF4-FFF2-40B4-BE49-F238E27FC236}">
                <a16:creationId xmlns:a16="http://schemas.microsoft.com/office/drawing/2014/main" id="{DA2B3CE5-A9CA-5EF5-A54E-0396C78EA276}"/>
              </a:ext>
            </a:extLst>
          </p:cNvPr>
          <p:cNvSpPr/>
          <p:nvPr/>
        </p:nvSpPr>
        <p:spPr>
          <a:xfrm>
            <a:off x="502920" y="5596128"/>
            <a:ext cx="10975848" cy="914400"/>
          </a:xfrm>
          <a:prstGeom prst="roundRect">
            <a:avLst>
              <a:gd name="adj" fmla="val 7000"/>
            </a:avLst>
          </a:prstGeom>
          <a:solidFill>
            <a:srgbClr val="3F3F41"/>
          </a:solidFill>
          <a:ln/>
        </p:spPr>
        <p:txBody>
          <a:bodyPr/>
          <a:lstStyle/>
          <a:p>
            <a:endParaRPr lang="es-CO"/>
          </a:p>
        </p:txBody>
      </p:sp>
      <p:grpSp>
        <p:nvGrpSpPr>
          <p:cNvPr id="69" name="Grupo 68">
            <a:extLst>
              <a:ext uri="{FF2B5EF4-FFF2-40B4-BE49-F238E27FC236}">
                <a16:creationId xmlns:a16="http://schemas.microsoft.com/office/drawing/2014/main" id="{C510358D-8576-997F-CD41-10E17F905334}"/>
              </a:ext>
            </a:extLst>
          </p:cNvPr>
          <p:cNvGrpSpPr/>
          <p:nvPr/>
        </p:nvGrpSpPr>
        <p:grpSpPr>
          <a:xfrm>
            <a:off x="713232" y="5769864"/>
            <a:ext cx="548640" cy="548640"/>
            <a:chOff x="713232" y="5769864"/>
            <a:chExt cx="548640" cy="548640"/>
          </a:xfrm>
        </p:grpSpPr>
        <p:sp>
          <p:nvSpPr>
            <p:cNvPr id="57" name="Shape 24">
              <a:extLst>
                <a:ext uri="{FF2B5EF4-FFF2-40B4-BE49-F238E27FC236}">
                  <a16:creationId xmlns:a16="http://schemas.microsoft.com/office/drawing/2014/main" id="{312CE9FC-14CF-0785-FDDE-D293BF225050}"/>
                </a:ext>
              </a:extLst>
            </p:cNvPr>
            <p:cNvSpPr/>
            <p:nvPr/>
          </p:nvSpPr>
          <p:spPr>
            <a:xfrm>
              <a:off x="713232" y="5769864"/>
              <a:ext cx="548640" cy="548640"/>
            </a:xfrm>
            <a:prstGeom prst="ellipse">
              <a:avLst/>
            </a:prstGeom>
            <a:solidFill>
              <a:srgbClr val="E9E7E2"/>
            </a:solidFill>
            <a:ln/>
          </p:spPr>
          <p:txBody>
            <a:bodyPr/>
            <a:lstStyle/>
            <a:p>
              <a:endParaRPr lang="es-CO"/>
            </a:p>
          </p:txBody>
        </p:sp>
        <p:pic>
          <p:nvPicPr>
            <p:cNvPr id="59" name="Image 3" descr="icons/shield_navy.png">
              <a:extLst>
                <a:ext uri="{FF2B5EF4-FFF2-40B4-BE49-F238E27FC236}">
                  <a16:creationId xmlns:a16="http://schemas.microsoft.com/office/drawing/2014/main" id="{191D5D12-4949-2FB5-7E8C-D1A67AB161E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55878" y="5912510"/>
              <a:ext cx="263347" cy="263347"/>
            </a:xfrm>
            <a:prstGeom prst="rect">
              <a:avLst/>
            </a:prstGeom>
          </p:spPr>
        </p:pic>
      </p:grpSp>
      <p:sp>
        <p:nvSpPr>
          <p:cNvPr id="61" name="Text 25">
            <a:extLst>
              <a:ext uri="{FF2B5EF4-FFF2-40B4-BE49-F238E27FC236}">
                <a16:creationId xmlns:a16="http://schemas.microsoft.com/office/drawing/2014/main" id="{7F096AE7-522C-C4B9-6D4E-A6F8066DC052}"/>
              </a:ext>
            </a:extLst>
          </p:cNvPr>
          <p:cNvSpPr/>
          <p:nvPr/>
        </p:nvSpPr>
        <p:spPr>
          <a:xfrm>
            <a:off x="1417320" y="5809184"/>
            <a:ext cx="9918802" cy="470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400" b="1" dirty="0">
                <a:solidFill>
                  <a:srgbClr val="E9E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 | Development Stack: </a:t>
            </a:r>
            <a:r>
              <a:rPr lang="en-US" sz="1400" dirty="0">
                <a:solidFill>
                  <a:srgbClr val="E9E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+ Opus 4.8 to draft code (Cell autocomplete blocked inside CLAUDE.md, all code-generation prompts logged). </a:t>
            </a:r>
            <a:r>
              <a:rPr lang="en-US" sz="1400" b="1" dirty="0">
                <a:solidFill>
                  <a:srgbClr val="E9E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Improvement:</a:t>
            </a:r>
            <a:r>
              <a:rPr lang="en-US" sz="1400" dirty="0">
                <a:solidFill>
                  <a:srgbClr val="E9E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Gem in Gemini. </a:t>
            </a:r>
            <a:r>
              <a:rPr lang="en-US" sz="1400" b="1" dirty="0">
                <a:solidFill>
                  <a:srgbClr val="E9E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Analysis: </a:t>
            </a:r>
            <a:r>
              <a:rPr lang="en-US" sz="1400" dirty="0">
                <a:solidFill>
                  <a:srgbClr val="E9E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Fable(assisted analysis, not automated).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25974816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iberty Latin America" id="{F6D2A8C4-4E76-492A-98D6-4B8E1B55A631}" vid="{F1840A6A-D11C-44C3-A634-471BC42FCF67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Liberty Latin America</Template>
  <TotalTime>112</TotalTime>
  <Words>1960</Words>
  <Application>Microsoft Office PowerPoint</Application>
  <PresentationFormat>Panorámica</PresentationFormat>
  <Paragraphs>182</Paragraphs>
  <Slides>9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Cambria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Silva</dc:creator>
  <cp:lastModifiedBy>Daniel Silva</cp:lastModifiedBy>
  <cp:revision>14</cp:revision>
  <dcterms:created xsi:type="dcterms:W3CDTF">2026-07-18T15:30:14Z</dcterms:created>
  <dcterms:modified xsi:type="dcterms:W3CDTF">2026-07-19T14:40:49Z</dcterms:modified>
</cp:coreProperties>
</file>